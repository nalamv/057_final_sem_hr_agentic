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5" r:id="rId2"/>
    <p:sldId id="257" r:id="rId3"/>
    <p:sldId id="305" r:id="rId4"/>
    <p:sldId id="298" r:id="rId5"/>
    <p:sldId id="293" r:id="rId6"/>
    <p:sldId id="279" r:id="rId7"/>
    <p:sldId id="299" r:id="rId8"/>
    <p:sldId id="300" r:id="rId9"/>
    <p:sldId id="302" r:id="rId10"/>
    <p:sldId id="277" r:id="rId11"/>
    <p:sldId id="290" r:id="rId12"/>
    <p:sldId id="297" r:id="rId13"/>
    <p:sldId id="304" r:id="rId14"/>
    <p:sldId id="294" r:id="rId15"/>
    <p:sldId id="295" r:id="rId16"/>
    <p:sldId id="291" r:id="rId17"/>
    <p:sldId id="273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9680D8E-F75E-4454-8D4F-B993136E9276}">
          <p14:sldIdLst>
            <p14:sldId id="265"/>
            <p14:sldId id="257"/>
            <p14:sldId id="305"/>
            <p14:sldId id="298"/>
            <p14:sldId id="293"/>
            <p14:sldId id="279"/>
            <p14:sldId id="299"/>
            <p14:sldId id="300"/>
            <p14:sldId id="302"/>
            <p14:sldId id="277"/>
            <p14:sldId id="290"/>
            <p14:sldId id="297"/>
            <p14:sldId id="304"/>
            <p14:sldId id="294"/>
            <p14:sldId id="295"/>
            <p14:sldId id="291"/>
            <p14:sldId id="273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318E03-CEB2-4182-9BB0-E5B3C0974B87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EC48DFE-9295-43BF-8E52-771DF379849E}" type="pres">
      <dgm:prSet presAssocID="{17318E03-CEB2-4182-9BB0-E5B3C0974B87}" presName="Name0" presStyleCnt="0">
        <dgm:presLayoutVars>
          <dgm:dir/>
          <dgm:resizeHandles val="exact"/>
        </dgm:presLayoutVars>
      </dgm:prSet>
      <dgm:spPr/>
    </dgm:pt>
    <dgm:pt modelId="{09B43CA1-7C24-4DF9-A4F5-8EA8AF7D1680}" type="pres">
      <dgm:prSet presAssocID="{17318E03-CEB2-4182-9BB0-E5B3C0974B87}" presName="arrow" presStyleLbl="bgShp" presStyleIdx="0" presStyleCnt="1" custAng="5400000" custScaleX="39623" custScaleY="27743" custLinFactNeighborX="-44354" custLinFactNeighborY="-5125"/>
      <dgm:spPr/>
    </dgm:pt>
    <dgm:pt modelId="{1C73DBF7-7C11-4DC9-B474-F2F7786EDA55}" type="pres">
      <dgm:prSet presAssocID="{17318E03-CEB2-4182-9BB0-E5B3C0974B87}" presName="points" presStyleCnt="0"/>
      <dgm:spPr/>
    </dgm:pt>
  </dgm:ptLst>
  <dgm:cxnLst>
    <dgm:cxn modelId="{1CE9D641-DB4A-4314-94C2-9A9E698D50CC}" type="presOf" srcId="{17318E03-CEB2-4182-9BB0-E5B3C0974B87}" destId="{AEC48DFE-9295-43BF-8E52-771DF379849E}" srcOrd="0" destOrd="0" presId="urn:microsoft.com/office/officeart/2005/8/layout/hProcess11"/>
    <dgm:cxn modelId="{7FCF605E-6C5D-43E0-85D0-43089E6CCE3F}" type="presParOf" srcId="{AEC48DFE-9295-43BF-8E52-771DF379849E}" destId="{09B43CA1-7C24-4DF9-A4F5-8EA8AF7D1680}" srcOrd="0" destOrd="0" presId="urn:microsoft.com/office/officeart/2005/8/layout/hProcess11"/>
    <dgm:cxn modelId="{D8B20918-4F27-4E52-A778-A3716509A8D8}" type="presParOf" srcId="{AEC48DFE-9295-43BF-8E52-771DF379849E}" destId="{1C73DBF7-7C11-4DC9-B474-F2F7786EDA55}" srcOrd="1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B43CA1-7C24-4DF9-A4F5-8EA8AF7D1680}">
      <dsp:nvSpPr>
        <dsp:cNvPr id="0" name=""/>
        <dsp:cNvSpPr/>
      </dsp:nvSpPr>
      <dsp:spPr>
        <a:xfrm rot="5400000">
          <a:off x="-1489587" y="1845028"/>
          <a:ext cx="4166596" cy="48287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DBD65-29C9-461C-BE10-FDFC83FA9CE2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EDB7C2-A953-4BF3-93A7-43EFF5A81AF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898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DFBC7-E885-26D2-0A76-E3E6BBF3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844C1-BFD7-15E9-043C-919EAC3FA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0185E-7D02-34B2-E739-C4ED62AC4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A3D69-1A40-E7CA-DAC8-0483D73EC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6287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7D222-B664-34E6-DE9E-561511C6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64704-D2C0-B555-048B-999CA6DC2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93D6E-D65E-288C-B391-926CDE0ED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1D91F-6F39-93DC-DA4F-0B426CA99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23001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8008E-173B-B384-9BC4-541070780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D1D90-3D0A-2EA4-E757-1E6EAA451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5917C-2032-F064-6944-64FE1BF31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F0CE5-0F0B-E27D-1D11-487106A5C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05484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5B508-1365-C8D8-398D-F27C8723D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99D93-47FF-6738-DC0C-8DD4880BE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39465-76E5-91F1-8CC6-6B566F05C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10C8D-10BF-0B0D-A04F-41DBA44BB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1742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DB7C2-A953-4BF3-93A7-43EFF5A81AFE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8132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07F69-9FBA-F507-2DAD-0F4E2BF9B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AB2B6-C315-ADC0-F172-34088F1DC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7BE37-63B6-D609-310E-F45A61159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FD71-F2A7-4A51-8A42-730687A3D56D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0F90C-5E23-1998-65BA-BD6B251C2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4A812-3EC3-DF82-D566-5BBDF2C3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8AB06-5A49-4D33-9D94-FD63C811D7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660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F9F4-8F88-B527-858B-B51324DB9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45217-29C3-0B19-6E42-42AFAE36B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03308-7F91-51D8-A092-D41EA2C20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FD71-F2A7-4A51-8A42-730687A3D56D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B4482-FAF8-F6FB-5624-3BB0C59D7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9038D-8E07-C2D7-2103-E9D44B36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8AB06-5A49-4D33-9D94-FD63C811D7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18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4A47C-C2CC-741B-151C-166ADB351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45546-E709-BB9D-0524-C145F7222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84406-E6D7-7BFB-93B0-D2A5FB4D7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FD71-F2A7-4A51-8A42-730687A3D56D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14D34-1669-347F-D6C3-F85B57014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9C955-CA68-0789-1395-2EBF7D7B2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8AB06-5A49-4D33-9D94-FD63C811D7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648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2ECD-C8EF-A65B-F082-2F8C0C060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4859E-2FE4-0FDE-5845-12C4B16CB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07DBEE-0ABC-6775-CCC0-37F0BC23A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F4E5-274B-7E69-3564-A0CD63D7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FD71-F2A7-4A51-8A42-730687A3D56D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A2B88-6E48-14CF-C32D-20C99E468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5D089-C301-A85C-3E01-EE5A5BAA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8AB06-5A49-4D33-9D94-FD63C811D7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560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47CE6-9EC0-86DF-0FE0-84BE035CC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645CD-BDE5-1174-C43B-205047B97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12B09-78D2-BD09-0030-7E8B161FC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7CEAF-D6D8-4E8A-7751-5F943C5F8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134FC9-DBCA-5997-618B-F3FE5F258D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559156-D8C5-7039-0EAD-8478B2010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FD71-F2A7-4A51-8A42-730687A3D56D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2DC662-178C-FA3C-CABE-C79D28762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C0FCA5-D919-37CD-6394-817B278F5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8AB06-5A49-4D33-9D94-FD63C811D7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2223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13FD5-76EB-197A-4AC4-4BB2C5BDD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5C464-38A3-691A-0FE9-D5432FDB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FD71-F2A7-4A51-8A42-730687A3D56D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66DAB-6390-7F90-8D6D-A01C9522F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A95DE-C12C-1041-C2C9-E737A9CFC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8AB06-5A49-4D33-9D94-FD63C811D7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8272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93082-C126-9DEC-8893-3C1B67546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FD71-F2A7-4A51-8A42-730687A3D56D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862F11-E56A-926B-0E44-7FCB57FAD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E9366-C081-C941-C9E8-7439F6C4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8AB06-5A49-4D33-9D94-FD63C811D7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4459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A529E-E1D9-CC5E-D852-C7586DCC9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546FB-7B33-E968-1E44-AC9110004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7F3154-0B85-0CA5-8A63-7AEF089DA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808C6-7CA5-A297-7FDD-FBC5FA007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FD71-F2A7-4A51-8A42-730687A3D56D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23842-E592-6311-D49D-E32FEA16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5E0F1-D017-DFCC-645B-66B359A1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8AB06-5A49-4D33-9D94-FD63C811D7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0748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356C-0F2E-1CF8-920D-D14BE8B73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302309-C576-1D37-1054-2B6E7E80C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14EA7-3D7B-7FDD-03CD-1171060BA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0158F-0B8B-98F5-24CB-C11C76087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FD71-F2A7-4A51-8A42-730687A3D56D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DA89A-C1FC-C248-3D66-643F91AEE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BD05A-A0FF-7480-C164-2F11EC90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8AB06-5A49-4D33-9D94-FD63C811D7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1701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6C494-E754-D289-3BCE-A4FF6F11B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00C4E-B530-CE2C-44A6-AF6AB6B17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B8DD3-D881-9076-BCAB-770B169B6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FD71-F2A7-4A51-8A42-730687A3D56D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C2981-BA4B-E7D0-4FEC-5EC24322B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2C3D9-FDE1-80E9-741D-39FC4654F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8AB06-5A49-4D33-9D94-FD63C811D7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2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32BB18-9C65-9BDE-9723-EA3323373B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4CD1B-0DFE-771D-B5FF-8D9F0AE9B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AA999-762D-426B-C806-2C4C8D65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FD71-F2A7-4A51-8A42-730687A3D56D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A3FB3-A99A-494B-5A5F-9C0DD77BD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E41D3-D7BF-3DB4-B443-81044745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8AB06-5A49-4D33-9D94-FD63C811D7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456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43091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9B23D2-B485-4E09-6341-9F9D24988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A125B-501D-538B-AA5E-9AFBAAD47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6C8A4-0982-514F-A95D-F0A059074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7FD71-F2A7-4A51-8A42-730687A3D56D}" type="datetimeFigureOut">
              <a:rPr lang="en-IN" smtClean="0"/>
              <a:t>19-04-2026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F7BE5-06F3-424C-CD3C-02F2F9B34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40D50-11CB-B8EA-46DD-286A5F979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8AB06-5A49-4D33-9D94-FD63C811D70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200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4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602.14878v1" TargetMode="External"/><Relationship Id="rId2" Type="http://schemas.openxmlformats.org/officeDocument/2006/relationships/hyperlink" Target="https://arxiv.org/html/2410.11239v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scovery.researcher.life/article/integrating-ai-and-large-language-models-for-automated-data-quality-enhancement-in-data-integration-systems/bf2746490e803ed3a6747d21c6b21f6c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national institute of technology&#10;&#10;Description automatically generated">
            <a:extLst>
              <a:ext uri="{FF2B5EF4-FFF2-40B4-BE49-F238E27FC236}">
                <a16:creationId xmlns:a16="http://schemas.microsoft.com/office/drawing/2014/main" id="{0836F0EA-D4C7-0822-44C4-05C129DBC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308"/>
            <a:ext cx="1840415" cy="1840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3C0998-21F0-E3C1-F812-EE94F9B7CC2B}"/>
              </a:ext>
            </a:extLst>
          </p:cNvPr>
          <p:cNvSpPr txBox="1"/>
          <p:nvPr/>
        </p:nvSpPr>
        <p:spPr>
          <a:xfrm>
            <a:off x="1328877" y="553612"/>
            <a:ext cx="1062906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Visvesvaraya National Institute of Technology, Nagpur</a:t>
            </a:r>
          </a:p>
          <a:p>
            <a:pPr algn="ctr"/>
            <a:r>
              <a:rPr lang="en-US" sz="3200" b="1" dirty="0">
                <a:latin typeface="+mj-lt"/>
              </a:rPr>
              <a:t>Electronics and Communication Engineering Department</a:t>
            </a:r>
          </a:p>
          <a:p>
            <a:pPr algn="ctr"/>
            <a:r>
              <a:rPr lang="en-US" sz="2800" b="1" u="sng" dirty="0"/>
              <a:t>M.TECH. IN APPLIED AI-C2S4 2025-26 (Summer 2026) </a:t>
            </a:r>
          </a:p>
          <a:p>
            <a:pPr algn="ctr"/>
            <a:r>
              <a:rPr lang="en-US" sz="2800" b="1" u="sng" dirty="0"/>
              <a:t>Second Evaluation-Phase 2 (19/04/2026)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436944-9102-B8DD-4937-53CE23F863CD}"/>
              </a:ext>
            </a:extLst>
          </p:cNvPr>
          <p:cNvCxnSpPr/>
          <p:nvPr/>
        </p:nvCxnSpPr>
        <p:spPr>
          <a:xfrm>
            <a:off x="344774" y="2554160"/>
            <a:ext cx="110477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CC8E6D-9AC9-207F-5269-04FCA0C97961}"/>
              </a:ext>
            </a:extLst>
          </p:cNvPr>
          <p:cNvSpPr txBox="1"/>
          <p:nvPr/>
        </p:nvSpPr>
        <p:spPr>
          <a:xfrm>
            <a:off x="1213503" y="2810598"/>
            <a:ext cx="976498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Design and Development of an Agentic AI-Powered </a:t>
            </a:r>
          </a:p>
          <a:p>
            <a:pPr algn="ctr"/>
            <a:r>
              <a:rPr lang="en-US" sz="3200" b="1" dirty="0">
                <a:solidFill>
                  <a:srgbClr val="0070C0"/>
                </a:solidFill>
              </a:rPr>
              <a:t>HR Assistant for Employee Support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C08EE-8491-1D44-274A-D679D012EA7B}"/>
              </a:ext>
            </a:extLst>
          </p:cNvPr>
          <p:cNvSpPr txBox="1"/>
          <p:nvPr/>
        </p:nvSpPr>
        <p:spPr>
          <a:xfrm>
            <a:off x="2128157" y="3826786"/>
            <a:ext cx="793569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Presented by</a:t>
            </a:r>
          </a:p>
          <a:p>
            <a:pPr algn="ctr"/>
            <a:r>
              <a:rPr lang="en-US" sz="2800" b="1" dirty="0"/>
              <a:t>Nalam Venkata Yugandhar Gupta (MT24AAI057)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6906C1-A200-6BB6-2FA3-502611F915AB}"/>
              </a:ext>
            </a:extLst>
          </p:cNvPr>
          <p:cNvSpPr txBox="1"/>
          <p:nvPr/>
        </p:nvSpPr>
        <p:spPr>
          <a:xfrm>
            <a:off x="4132320" y="5000367"/>
            <a:ext cx="3927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Under the supervision of</a:t>
            </a:r>
          </a:p>
          <a:p>
            <a:pPr algn="ctr"/>
            <a:r>
              <a:rPr lang="en-US" sz="2800" b="1" dirty="0"/>
              <a:t>Dr. Praveen Pawar</a:t>
            </a:r>
          </a:p>
          <a:p>
            <a:pPr algn="ctr"/>
            <a:r>
              <a:rPr lang="en-US" sz="2800" b="1" dirty="0"/>
              <a:t>ECE Dept. VNIT Nagpur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113255-FBC0-1E35-5573-1F719584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D5500-71C4-4001-8F33-8C22722166F3}" type="datetime1">
              <a:rPr lang="en-IN" smtClean="0"/>
              <a:t>19-04-2026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6B8CB38-AB1E-3F70-E960-86C496A5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75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8DC1-2314-1936-E491-A2AA61174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187813" cy="755752"/>
          </a:xfrm>
        </p:spPr>
        <p:txBody>
          <a:bodyPr>
            <a:normAutofit/>
          </a:bodyPr>
          <a:lstStyle/>
          <a:p>
            <a:r>
              <a:rPr lang="en-US" sz="2800" dirty="0"/>
              <a:t>Introduction &amp; Problem Statement: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83446-B031-65D4-C2BF-E38ADC696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23"/>
            <a:ext cx="10515600" cy="485944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 teams spend significant time on repetitive queries: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 polices related questions 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Reimbursement policies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Resolving Payroll related queries 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Applying Leave and Checking the balanced leaves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Employees face delays in getting information.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for AI agent that automates support, reduces workload, and improves employee experience.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HR support → slow, resource-intensive.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Build an agentic AI system that can understand queries &amp; Retrieve relevant information from employee data. </a:t>
            </a:r>
            <a:endParaRPr lang="en-US" sz="2800" dirty="0">
              <a:latin typeface="NotoSans-Regular"/>
            </a:endParaRPr>
          </a:p>
          <a:p>
            <a:endParaRPr lang="en-US" dirty="0">
              <a:latin typeface="NotoSans-Regular"/>
            </a:endParaRPr>
          </a:p>
          <a:p>
            <a:endParaRPr lang="en-US" sz="2800" dirty="0">
              <a:latin typeface="NotoSans-Regular"/>
            </a:endParaRPr>
          </a:p>
          <a:p>
            <a:endParaRPr lang="en-US" sz="2800" dirty="0">
              <a:latin typeface="NotoSans-Regular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EAE4-7B8A-1BB4-7A82-30D1B70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19-04-2026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E49F3-1CC0-B691-D400-C0CD39A4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23FF411-884F-A6AB-3B23-AA20FD79E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7323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A705-A672-04F3-0EDE-6456BDB0D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9666"/>
          </a:xfrm>
        </p:spPr>
        <p:txBody>
          <a:bodyPr>
            <a:normAutofit/>
          </a:bodyPr>
          <a:lstStyle/>
          <a:p>
            <a:r>
              <a:rPr lang="en-IN" sz="2800" dirty="0"/>
              <a:t>Flow of the Agent:</a:t>
            </a:r>
          </a:p>
        </p:txBody>
      </p:sp>
      <p:sp>
        <p:nvSpPr>
          <p:cNvPr id="4" name="Policy Queries">
            <a:extLst>
              <a:ext uri="{FF2B5EF4-FFF2-40B4-BE49-F238E27FC236}">
                <a16:creationId xmlns:a16="http://schemas.microsoft.com/office/drawing/2014/main" id="{CF81FC0A-F2C7-1092-E948-FD396CBDF250}"/>
              </a:ext>
            </a:extLst>
          </p:cNvPr>
          <p:cNvSpPr/>
          <p:nvPr/>
        </p:nvSpPr>
        <p:spPr>
          <a:xfrm>
            <a:off x="474517" y="1167678"/>
            <a:ext cx="1610591" cy="559666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Policy Queries</a:t>
            </a:r>
          </a:p>
        </p:txBody>
      </p:sp>
      <p:sp>
        <p:nvSpPr>
          <p:cNvPr id="5" name="Supervisor Agent">
            <a:extLst>
              <a:ext uri="{FF2B5EF4-FFF2-40B4-BE49-F238E27FC236}">
                <a16:creationId xmlns:a16="http://schemas.microsoft.com/office/drawing/2014/main" id="{6E884FD0-F9B2-BBC3-95F5-FE446F7322AC}"/>
              </a:ext>
            </a:extLst>
          </p:cNvPr>
          <p:cNvSpPr/>
          <p:nvPr/>
        </p:nvSpPr>
        <p:spPr>
          <a:xfrm>
            <a:off x="2531918" y="3469048"/>
            <a:ext cx="1610591" cy="559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Supervisor Agent</a:t>
            </a:r>
          </a:p>
        </p:txBody>
      </p:sp>
      <p:sp>
        <p:nvSpPr>
          <p:cNvPr id="6" name="Policy Agent">
            <a:extLst>
              <a:ext uri="{FF2B5EF4-FFF2-40B4-BE49-F238E27FC236}">
                <a16:creationId xmlns:a16="http://schemas.microsoft.com/office/drawing/2014/main" id="{18B9C8F6-E6B2-2E00-D8AB-45297F0DCFDE}"/>
              </a:ext>
            </a:extLst>
          </p:cNvPr>
          <p:cNvSpPr>
            <a:spLocks/>
          </p:cNvSpPr>
          <p:nvPr/>
        </p:nvSpPr>
        <p:spPr>
          <a:xfrm>
            <a:off x="5732317" y="1537277"/>
            <a:ext cx="1610591" cy="559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Policy Agent</a:t>
            </a:r>
          </a:p>
        </p:txBody>
      </p:sp>
      <p:sp>
        <p:nvSpPr>
          <p:cNvPr id="7" name="Policy Info">
            <a:extLst>
              <a:ext uri="{FF2B5EF4-FFF2-40B4-BE49-F238E27FC236}">
                <a16:creationId xmlns:a16="http://schemas.microsoft.com/office/drawing/2014/main" id="{A23B034F-9180-8C30-225B-78477B024228}"/>
              </a:ext>
            </a:extLst>
          </p:cNvPr>
          <p:cNvSpPr>
            <a:spLocks/>
          </p:cNvSpPr>
          <p:nvPr/>
        </p:nvSpPr>
        <p:spPr>
          <a:xfrm>
            <a:off x="9109365" y="1167678"/>
            <a:ext cx="2240973" cy="37335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Policy</a:t>
            </a:r>
          </a:p>
        </p:txBody>
      </p:sp>
      <p:sp>
        <p:nvSpPr>
          <p:cNvPr id="10" name="Holiday Info">
            <a:extLst>
              <a:ext uri="{FF2B5EF4-FFF2-40B4-BE49-F238E27FC236}">
                <a16:creationId xmlns:a16="http://schemas.microsoft.com/office/drawing/2014/main" id="{788CA225-8E37-188B-F49F-499B748E9CDF}"/>
              </a:ext>
            </a:extLst>
          </p:cNvPr>
          <p:cNvSpPr/>
          <p:nvPr/>
        </p:nvSpPr>
        <p:spPr>
          <a:xfrm>
            <a:off x="9109363" y="1734992"/>
            <a:ext cx="2240973" cy="3733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Holiday Info</a:t>
            </a:r>
          </a:p>
        </p:txBody>
      </p:sp>
      <p:sp>
        <p:nvSpPr>
          <p:cNvPr id="11" name="Tax details">
            <a:extLst>
              <a:ext uri="{FF2B5EF4-FFF2-40B4-BE49-F238E27FC236}">
                <a16:creationId xmlns:a16="http://schemas.microsoft.com/office/drawing/2014/main" id="{5CE27C23-821F-9A2E-D9E2-0904066D9C7A}"/>
              </a:ext>
            </a:extLst>
          </p:cNvPr>
          <p:cNvSpPr/>
          <p:nvPr/>
        </p:nvSpPr>
        <p:spPr>
          <a:xfrm>
            <a:off x="9109363" y="2391640"/>
            <a:ext cx="2240973" cy="37335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Tax Exemptions Info</a:t>
            </a:r>
          </a:p>
        </p:txBody>
      </p:sp>
      <p:sp>
        <p:nvSpPr>
          <p:cNvPr id="12" name="Payroll Agent">
            <a:extLst>
              <a:ext uri="{FF2B5EF4-FFF2-40B4-BE49-F238E27FC236}">
                <a16:creationId xmlns:a16="http://schemas.microsoft.com/office/drawing/2014/main" id="{C1E4B156-3430-32B2-B691-1803287891F4}"/>
              </a:ext>
            </a:extLst>
          </p:cNvPr>
          <p:cNvSpPr/>
          <p:nvPr/>
        </p:nvSpPr>
        <p:spPr>
          <a:xfrm>
            <a:off x="5583380" y="3469048"/>
            <a:ext cx="1610591" cy="559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Payroll Agent</a:t>
            </a:r>
          </a:p>
        </p:txBody>
      </p:sp>
      <p:sp>
        <p:nvSpPr>
          <p:cNvPr id="13" name="LMS Agent">
            <a:extLst>
              <a:ext uri="{FF2B5EF4-FFF2-40B4-BE49-F238E27FC236}">
                <a16:creationId xmlns:a16="http://schemas.microsoft.com/office/drawing/2014/main" id="{8F072359-D8FB-6213-8BDE-DB9D34136371}"/>
              </a:ext>
            </a:extLst>
          </p:cNvPr>
          <p:cNvSpPr/>
          <p:nvPr/>
        </p:nvSpPr>
        <p:spPr>
          <a:xfrm>
            <a:off x="5583380" y="5019240"/>
            <a:ext cx="1610591" cy="559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LMS Agent</a:t>
            </a:r>
          </a:p>
        </p:txBody>
      </p:sp>
      <p:sp>
        <p:nvSpPr>
          <p:cNvPr id="14" name="Payroll DB">
            <a:extLst>
              <a:ext uri="{FF2B5EF4-FFF2-40B4-BE49-F238E27FC236}">
                <a16:creationId xmlns:a16="http://schemas.microsoft.com/office/drawing/2014/main" id="{04042910-5AB3-4F29-374F-8B1296DEF43B}"/>
              </a:ext>
            </a:extLst>
          </p:cNvPr>
          <p:cNvSpPr/>
          <p:nvPr/>
        </p:nvSpPr>
        <p:spPr>
          <a:xfrm>
            <a:off x="9109362" y="3513280"/>
            <a:ext cx="2240973" cy="3733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Payroll DB</a:t>
            </a:r>
          </a:p>
        </p:txBody>
      </p:sp>
      <p:sp>
        <p:nvSpPr>
          <p:cNvPr id="15" name="Employee Actions">
            <a:extLst>
              <a:ext uri="{FF2B5EF4-FFF2-40B4-BE49-F238E27FC236}">
                <a16:creationId xmlns:a16="http://schemas.microsoft.com/office/drawing/2014/main" id="{85DA4E73-0C93-E661-EDF3-DE4819BD1043}"/>
              </a:ext>
            </a:extLst>
          </p:cNvPr>
          <p:cNvSpPr/>
          <p:nvPr/>
        </p:nvSpPr>
        <p:spPr>
          <a:xfrm>
            <a:off x="9109362" y="4363891"/>
            <a:ext cx="2240973" cy="37335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Employee Tools</a:t>
            </a:r>
          </a:p>
        </p:txBody>
      </p:sp>
      <p:sp>
        <p:nvSpPr>
          <p:cNvPr id="16" name="Manger Actions">
            <a:extLst>
              <a:ext uri="{FF2B5EF4-FFF2-40B4-BE49-F238E27FC236}">
                <a16:creationId xmlns:a16="http://schemas.microsoft.com/office/drawing/2014/main" id="{AB9592FC-607D-9618-7E3C-D1298500DC4C}"/>
              </a:ext>
            </a:extLst>
          </p:cNvPr>
          <p:cNvSpPr/>
          <p:nvPr/>
        </p:nvSpPr>
        <p:spPr>
          <a:xfrm>
            <a:off x="9109362" y="5469514"/>
            <a:ext cx="2240973" cy="37335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Manager Tools</a:t>
            </a:r>
          </a:p>
        </p:txBody>
      </p:sp>
      <p:sp>
        <p:nvSpPr>
          <p:cNvPr id="17" name="Holiday Queries">
            <a:extLst>
              <a:ext uri="{FF2B5EF4-FFF2-40B4-BE49-F238E27FC236}">
                <a16:creationId xmlns:a16="http://schemas.microsoft.com/office/drawing/2014/main" id="{307F5522-442C-9D73-09B8-CEEE82A86DE2}"/>
              </a:ext>
            </a:extLst>
          </p:cNvPr>
          <p:cNvSpPr/>
          <p:nvPr/>
        </p:nvSpPr>
        <p:spPr>
          <a:xfrm>
            <a:off x="474516" y="2053143"/>
            <a:ext cx="1610591" cy="55966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Holiday Queries</a:t>
            </a:r>
          </a:p>
        </p:txBody>
      </p:sp>
      <p:sp>
        <p:nvSpPr>
          <p:cNvPr id="18" name="Tax Queries">
            <a:extLst>
              <a:ext uri="{FF2B5EF4-FFF2-40B4-BE49-F238E27FC236}">
                <a16:creationId xmlns:a16="http://schemas.microsoft.com/office/drawing/2014/main" id="{31765CC1-16C1-757B-A896-AD3BBCB62E1F}"/>
              </a:ext>
            </a:extLst>
          </p:cNvPr>
          <p:cNvSpPr/>
          <p:nvPr/>
        </p:nvSpPr>
        <p:spPr>
          <a:xfrm>
            <a:off x="498763" y="3013363"/>
            <a:ext cx="1610591" cy="5596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Tax Related Queries</a:t>
            </a:r>
          </a:p>
        </p:txBody>
      </p:sp>
      <p:sp>
        <p:nvSpPr>
          <p:cNvPr id="19" name="Payroll Queries">
            <a:extLst>
              <a:ext uri="{FF2B5EF4-FFF2-40B4-BE49-F238E27FC236}">
                <a16:creationId xmlns:a16="http://schemas.microsoft.com/office/drawing/2014/main" id="{9BA88116-A00F-74AD-F807-EB4EA25F6ACB}"/>
              </a:ext>
            </a:extLst>
          </p:cNvPr>
          <p:cNvSpPr/>
          <p:nvPr/>
        </p:nvSpPr>
        <p:spPr>
          <a:xfrm>
            <a:off x="474516" y="3973583"/>
            <a:ext cx="1610591" cy="55966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Payroll Queries</a:t>
            </a:r>
          </a:p>
        </p:txBody>
      </p:sp>
      <p:sp>
        <p:nvSpPr>
          <p:cNvPr id="20" name="Employee Actions">
            <a:extLst>
              <a:ext uri="{FF2B5EF4-FFF2-40B4-BE49-F238E27FC236}">
                <a16:creationId xmlns:a16="http://schemas.microsoft.com/office/drawing/2014/main" id="{57B9CF84-7574-05C5-2C5F-10424A5DB7E8}"/>
              </a:ext>
            </a:extLst>
          </p:cNvPr>
          <p:cNvSpPr/>
          <p:nvPr/>
        </p:nvSpPr>
        <p:spPr>
          <a:xfrm>
            <a:off x="474515" y="4859048"/>
            <a:ext cx="1610591" cy="55966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Employee Related</a:t>
            </a:r>
          </a:p>
          <a:p>
            <a:pPr algn="ctr"/>
            <a:r>
              <a:rPr lang="en-IN" sz="1400" dirty="0"/>
              <a:t>LMS Actions</a:t>
            </a:r>
          </a:p>
        </p:txBody>
      </p:sp>
      <p:sp>
        <p:nvSpPr>
          <p:cNvPr id="21" name="Manager Actions">
            <a:extLst>
              <a:ext uri="{FF2B5EF4-FFF2-40B4-BE49-F238E27FC236}">
                <a16:creationId xmlns:a16="http://schemas.microsoft.com/office/drawing/2014/main" id="{E64DB77A-CEEA-F266-175E-C3F25E09E894}"/>
              </a:ext>
            </a:extLst>
          </p:cNvPr>
          <p:cNvSpPr/>
          <p:nvPr/>
        </p:nvSpPr>
        <p:spPr>
          <a:xfrm>
            <a:off x="498762" y="5760676"/>
            <a:ext cx="1610591" cy="55966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Manager Related</a:t>
            </a:r>
          </a:p>
          <a:p>
            <a:pPr algn="ctr"/>
            <a:r>
              <a:rPr lang="en-IN" sz="1400" dirty="0"/>
              <a:t>LMS Actions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D07DCEA-D5BE-9D2C-1711-F8AB0B377B2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142509" y="1817110"/>
            <a:ext cx="1589808" cy="1931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30C1AD6-7793-52D1-A992-8A85FF08288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7342908" y="1354354"/>
            <a:ext cx="1766457" cy="462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06A1ACC-2908-1093-73A3-28B62318B4E1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342908" y="1684191"/>
            <a:ext cx="1915391" cy="132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76EF7D5-6713-08D4-13D0-E727A362DA54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7342908" y="1817110"/>
            <a:ext cx="1766455" cy="761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07B208F-1AB5-6345-EE8D-9723F8240810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7193971" y="3699956"/>
            <a:ext cx="1915391" cy="43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4F08645-A0EA-737C-CEE7-6AC3F880EBD8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7193971" y="4550567"/>
            <a:ext cx="1915391" cy="748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6415FCF-481A-6466-4782-A1C4778C79F1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7193971" y="5299073"/>
            <a:ext cx="1915391" cy="357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9B5858B-BDAF-7985-614C-54724E9284FB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4142509" y="3748881"/>
            <a:ext cx="1440871" cy="1550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03EC34A-940B-CECE-2749-64649648D4E2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4142509" y="3748881"/>
            <a:ext cx="1440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ight Brace 59">
            <a:extLst>
              <a:ext uri="{FF2B5EF4-FFF2-40B4-BE49-F238E27FC236}">
                <a16:creationId xmlns:a16="http://schemas.microsoft.com/office/drawing/2014/main" id="{0719F954-2F6C-79ED-9FA6-8FFB68784E9A}"/>
              </a:ext>
            </a:extLst>
          </p:cNvPr>
          <p:cNvSpPr/>
          <p:nvPr/>
        </p:nvSpPr>
        <p:spPr>
          <a:xfrm>
            <a:off x="2265218" y="1497516"/>
            <a:ext cx="110836" cy="450842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66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C569C-3BAB-B573-35CF-089D9EC0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F502B-DE6B-25C4-BA33-BEBCE05AF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365126"/>
            <a:ext cx="5605272" cy="811484"/>
          </a:xfrm>
        </p:spPr>
        <p:txBody>
          <a:bodyPr/>
          <a:lstStyle/>
          <a:p>
            <a:r>
              <a:rPr lang="en-IN" sz="2800" dirty="0"/>
              <a:t>Multi Agent Architecture: (Phase-2)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41A04C-A424-042D-1C3F-CAA4DF7A70D9}"/>
              </a:ext>
            </a:extLst>
          </p:cNvPr>
          <p:cNvSpPr/>
          <p:nvPr/>
        </p:nvSpPr>
        <p:spPr>
          <a:xfrm rot="5400000">
            <a:off x="6342961" y="3157913"/>
            <a:ext cx="4137487" cy="418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</a:t>
            </a:r>
            <a:r>
              <a:rPr lang="en-IN" sz="1050" dirty="0" err="1"/>
              <a:t>openai</a:t>
            </a:r>
            <a:r>
              <a:rPr lang="en-IN" sz="1050" dirty="0"/>
              <a:t>/gpt-oss-20b</a:t>
            </a: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921321-17A6-9F4A-4042-51362E603D49}"/>
              </a:ext>
            </a:extLst>
          </p:cNvPr>
          <p:cNvSpPr/>
          <p:nvPr/>
        </p:nvSpPr>
        <p:spPr>
          <a:xfrm>
            <a:off x="1805503" y="2932841"/>
            <a:ext cx="1028884" cy="7531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Query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2EB029-F1B9-7E88-0FAF-967CF537C9A5}"/>
              </a:ext>
            </a:extLst>
          </p:cNvPr>
          <p:cNvSpPr/>
          <p:nvPr/>
        </p:nvSpPr>
        <p:spPr>
          <a:xfrm>
            <a:off x="3853954" y="5681389"/>
            <a:ext cx="1249178" cy="10352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response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37E4F3-B72A-AFA2-6C66-F22888C07748}"/>
              </a:ext>
            </a:extLst>
          </p:cNvPr>
          <p:cNvSpPr/>
          <p:nvPr/>
        </p:nvSpPr>
        <p:spPr>
          <a:xfrm>
            <a:off x="6261440" y="1396066"/>
            <a:ext cx="1028883" cy="1112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Agent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BAF17A3-FEAB-265C-8314-2967709CDDD8}"/>
              </a:ext>
            </a:extLst>
          </p:cNvPr>
          <p:cNvSpPr/>
          <p:nvPr/>
        </p:nvSpPr>
        <p:spPr>
          <a:xfrm flipV="1">
            <a:off x="2845409" y="3243435"/>
            <a:ext cx="1107671" cy="816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DD57E2-19DD-3AA7-7B29-7BCEBEAABB94}"/>
              </a:ext>
            </a:extLst>
          </p:cNvPr>
          <p:cNvSpPr/>
          <p:nvPr/>
        </p:nvSpPr>
        <p:spPr>
          <a:xfrm>
            <a:off x="3964102" y="2412210"/>
            <a:ext cx="1028883" cy="171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Agent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1A90D7-AC7D-8599-A4FA-BFAD0DA04584}"/>
              </a:ext>
            </a:extLst>
          </p:cNvPr>
          <p:cNvSpPr txBox="1"/>
          <p:nvPr/>
        </p:nvSpPr>
        <p:spPr>
          <a:xfrm>
            <a:off x="7205472" y="1416770"/>
            <a:ext cx="149648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Policy Related Queries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36FAD0B-EA21-CFD6-4231-7DF1116F44A5}"/>
              </a:ext>
            </a:extLst>
          </p:cNvPr>
          <p:cNvSpPr/>
          <p:nvPr/>
        </p:nvSpPr>
        <p:spPr>
          <a:xfrm flipV="1">
            <a:off x="7287768" y="1711389"/>
            <a:ext cx="914852" cy="978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12660C4-8B8E-D50B-BAA3-F5E5F36C62E0}"/>
              </a:ext>
            </a:extLst>
          </p:cNvPr>
          <p:cNvSpPr/>
          <p:nvPr/>
        </p:nvSpPr>
        <p:spPr>
          <a:xfrm flipV="1">
            <a:off x="7287768" y="4881568"/>
            <a:ext cx="914853" cy="992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BB8FC3-3F97-1850-2CB6-E0880304D306}"/>
              </a:ext>
            </a:extLst>
          </p:cNvPr>
          <p:cNvSpPr/>
          <p:nvPr/>
        </p:nvSpPr>
        <p:spPr>
          <a:xfrm>
            <a:off x="6247863" y="4349221"/>
            <a:ext cx="1028883" cy="1112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Agent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</a:p>
        </p:txBody>
      </p:sp>
      <p:pic>
        <p:nvPicPr>
          <p:cNvPr id="18" name="Picture Placeholder 5">
            <a:extLst>
              <a:ext uri="{FF2B5EF4-FFF2-40B4-BE49-F238E27FC236}">
                <a16:creationId xmlns:a16="http://schemas.microsoft.com/office/drawing/2014/main" id="{03892B7F-D807-5C71-74D7-D59DDD569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3DD3BC-1224-3C56-82DB-D40514D9FB32}"/>
              </a:ext>
            </a:extLst>
          </p:cNvPr>
          <p:cNvSpPr txBox="1"/>
          <p:nvPr/>
        </p:nvSpPr>
        <p:spPr>
          <a:xfrm>
            <a:off x="7205472" y="4562997"/>
            <a:ext cx="149648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Payroll Related Queries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80D1BC-5694-2D10-FDBE-3ABA2AB14677}"/>
              </a:ext>
            </a:extLst>
          </p:cNvPr>
          <p:cNvSpPr/>
          <p:nvPr/>
        </p:nvSpPr>
        <p:spPr>
          <a:xfrm>
            <a:off x="6258885" y="2793475"/>
            <a:ext cx="1028883" cy="1112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Management System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powered Action Agent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0B684FCD-28D6-F1B2-90AA-D979425D222F}"/>
              </a:ext>
            </a:extLst>
          </p:cNvPr>
          <p:cNvSpPr/>
          <p:nvPr/>
        </p:nvSpPr>
        <p:spPr>
          <a:xfrm flipV="1">
            <a:off x="7285213" y="3108797"/>
            <a:ext cx="914852" cy="978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DBCB1719-A783-D337-E9CC-39FE587E50AE}"/>
              </a:ext>
            </a:extLst>
          </p:cNvPr>
          <p:cNvSpPr/>
          <p:nvPr/>
        </p:nvSpPr>
        <p:spPr>
          <a:xfrm rot="5400000" flipV="1">
            <a:off x="3662386" y="4871315"/>
            <a:ext cx="1552749" cy="674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4A1F3E-FD06-4C8C-C8F2-38CC92711469}"/>
              </a:ext>
            </a:extLst>
          </p:cNvPr>
          <p:cNvSpPr txBox="1"/>
          <p:nvPr/>
        </p:nvSpPr>
        <p:spPr>
          <a:xfrm>
            <a:off x="7298790" y="2884398"/>
            <a:ext cx="149648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Actions on LMS</a:t>
            </a:r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D5254597-B1C3-038C-FE3D-DFA6E24358EF}"/>
              </a:ext>
            </a:extLst>
          </p:cNvPr>
          <p:cNvSpPr/>
          <p:nvPr/>
        </p:nvSpPr>
        <p:spPr>
          <a:xfrm rot="1992397">
            <a:off x="4897734" y="4122348"/>
            <a:ext cx="1452538" cy="6178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A6991EEA-FFAB-3BE8-C366-9620CB2202CE}"/>
              </a:ext>
            </a:extLst>
          </p:cNvPr>
          <p:cNvSpPr/>
          <p:nvPr/>
        </p:nvSpPr>
        <p:spPr>
          <a:xfrm>
            <a:off x="4992927" y="3244400"/>
            <a:ext cx="1250073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Left-Right 28">
            <a:extLst>
              <a:ext uri="{FF2B5EF4-FFF2-40B4-BE49-F238E27FC236}">
                <a16:creationId xmlns:a16="http://schemas.microsoft.com/office/drawing/2014/main" id="{8C7631AA-1DE0-153E-8E7B-7B8AB15D659D}"/>
              </a:ext>
            </a:extLst>
          </p:cNvPr>
          <p:cNvSpPr/>
          <p:nvPr/>
        </p:nvSpPr>
        <p:spPr>
          <a:xfrm rot="19960540">
            <a:off x="4887282" y="2294053"/>
            <a:ext cx="1452538" cy="6178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683FC2C9-A0D5-6D51-312D-75C991DD00EF}"/>
              </a:ext>
            </a:extLst>
          </p:cNvPr>
          <p:cNvSpPr txBox="1">
            <a:spLocks/>
          </p:cNvSpPr>
          <p:nvPr/>
        </p:nvSpPr>
        <p:spPr>
          <a:xfrm>
            <a:off x="-1276452" y="6019348"/>
            <a:ext cx="302281" cy="36576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6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5" grpId="0" animBg="1"/>
      <p:bldP spid="6" grpId="0" animBg="1"/>
      <p:bldP spid="8" grpId="0" animBg="1"/>
      <p:bldP spid="9" grpId="0" animBg="1"/>
      <p:bldP spid="10" grpId="0" animBg="1"/>
      <p:bldP spid="13" grpId="0"/>
      <p:bldP spid="15" grpId="0" animBg="1"/>
      <p:bldP spid="16" grpId="0" animBg="1"/>
      <p:bldP spid="17" grpId="0" animBg="1"/>
      <p:bldP spid="4" grpId="0"/>
      <p:bldP spid="19" grpId="0" animBg="1"/>
      <p:bldP spid="20" grpId="0" animBg="1"/>
      <p:bldP spid="22" grpId="0" animBg="1"/>
      <p:bldP spid="26" grpId="0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734A50A-D69F-3CD9-B8A2-C174ADB44C67}"/>
              </a:ext>
            </a:extLst>
          </p:cNvPr>
          <p:cNvSpPr/>
          <p:nvPr/>
        </p:nvSpPr>
        <p:spPr>
          <a:xfrm>
            <a:off x="5696984" y="2166984"/>
            <a:ext cx="3775563" cy="31764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93" y="443555"/>
            <a:ext cx="10805160" cy="707886"/>
          </a:xfrm>
        </p:spPr>
        <p:txBody>
          <a:bodyPr>
            <a:normAutofit/>
          </a:bodyPr>
          <a:lstStyle/>
          <a:p>
            <a:r>
              <a:rPr lang="en-US" sz="2800" dirty="0"/>
              <a:t>RAG Model: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4A039-11AB-474F-8746-9A34D1C3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0796" y="6987912"/>
            <a:ext cx="302281" cy="36576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6E5B80C5-6B42-4867-88CC-660291DD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65068" y="7289377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2658E62-21EA-B7C5-F2A3-14CA9C1BD079}"/>
              </a:ext>
            </a:extLst>
          </p:cNvPr>
          <p:cNvSpPr/>
          <p:nvPr/>
        </p:nvSpPr>
        <p:spPr>
          <a:xfrm>
            <a:off x="1725957" y="3792574"/>
            <a:ext cx="1351144" cy="9978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(Lang chain Loaders)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14B0BF-7544-CEDA-9B09-5AB3877767B4}"/>
              </a:ext>
            </a:extLst>
          </p:cNvPr>
          <p:cNvSpPr/>
          <p:nvPr/>
        </p:nvSpPr>
        <p:spPr>
          <a:xfrm>
            <a:off x="3615543" y="3823086"/>
            <a:ext cx="1728190" cy="9978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 &amp; Embedding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Open-source model </a:t>
            </a:r>
          </a:p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(all-MiniLM-L6-v2)</a:t>
            </a:r>
          </a:p>
          <a:p>
            <a:pPr algn="ctr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489082-3D7A-678A-B969-4314357999DB}"/>
              </a:ext>
            </a:extLst>
          </p:cNvPr>
          <p:cNvSpPr/>
          <p:nvPr/>
        </p:nvSpPr>
        <p:spPr>
          <a:xfrm>
            <a:off x="5882175" y="3755192"/>
            <a:ext cx="1249178" cy="1035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Store (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CHROMA DB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AF8764-C10A-AFAC-7585-E730A96A493D}"/>
              </a:ext>
            </a:extLst>
          </p:cNvPr>
          <p:cNvSpPr/>
          <p:nvPr/>
        </p:nvSpPr>
        <p:spPr>
          <a:xfrm>
            <a:off x="7918330" y="3796668"/>
            <a:ext cx="1152128" cy="1035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Model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56815BB-2CD7-3F68-2084-E62317B27DF9}"/>
              </a:ext>
            </a:extLst>
          </p:cNvPr>
          <p:cNvSpPr/>
          <p:nvPr/>
        </p:nvSpPr>
        <p:spPr>
          <a:xfrm>
            <a:off x="3101894" y="4193343"/>
            <a:ext cx="531149" cy="1286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B8C9D65-99D4-085C-146D-DD8FDEFF1705}"/>
              </a:ext>
            </a:extLst>
          </p:cNvPr>
          <p:cNvSpPr/>
          <p:nvPr/>
        </p:nvSpPr>
        <p:spPr>
          <a:xfrm>
            <a:off x="5349625" y="4178011"/>
            <a:ext cx="507757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3D1ED5A-A091-FF9F-A56D-C29E9C14B0E3}"/>
              </a:ext>
            </a:extLst>
          </p:cNvPr>
          <p:cNvSpPr/>
          <p:nvPr/>
        </p:nvSpPr>
        <p:spPr>
          <a:xfrm rot="16200000">
            <a:off x="8011445" y="5174169"/>
            <a:ext cx="864613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28C9506B-541E-5EB8-183D-3A76471DA5BE}"/>
              </a:ext>
            </a:extLst>
          </p:cNvPr>
          <p:cNvSpPr/>
          <p:nvPr/>
        </p:nvSpPr>
        <p:spPr>
          <a:xfrm>
            <a:off x="9070458" y="4178011"/>
            <a:ext cx="1681884" cy="1465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DCAC5C-23CF-D350-211A-94E1F5DBA8A8}"/>
              </a:ext>
            </a:extLst>
          </p:cNvPr>
          <p:cNvSpPr/>
          <p:nvPr/>
        </p:nvSpPr>
        <p:spPr>
          <a:xfrm>
            <a:off x="7918330" y="2466127"/>
            <a:ext cx="1152128" cy="1035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</a:t>
            </a:r>
            <a:r>
              <a:rPr lang="en-IN" sz="1050" dirty="0" err="1"/>
              <a:t>openai</a:t>
            </a:r>
            <a:r>
              <a:rPr lang="en-IN" sz="1050" dirty="0"/>
              <a:t>/gpt-oss-20b</a:t>
            </a: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0901D0-5F11-9D94-AC29-C68E64AF566F}"/>
              </a:ext>
            </a:extLst>
          </p:cNvPr>
          <p:cNvSpPr/>
          <p:nvPr/>
        </p:nvSpPr>
        <p:spPr>
          <a:xfrm>
            <a:off x="7918330" y="5661248"/>
            <a:ext cx="1249178" cy="10352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Query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35AC2B-9717-869C-7E90-97E5E172E509}"/>
              </a:ext>
            </a:extLst>
          </p:cNvPr>
          <p:cNvSpPr/>
          <p:nvPr/>
        </p:nvSpPr>
        <p:spPr>
          <a:xfrm>
            <a:off x="10752342" y="3643991"/>
            <a:ext cx="1249178" cy="1035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response</a:t>
            </a:r>
          </a:p>
        </p:txBody>
      </p:sp>
      <p:sp>
        <p:nvSpPr>
          <p:cNvPr id="31" name="Arrow: Left-Right 30">
            <a:extLst>
              <a:ext uri="{FF2B5EF4-FFF2-40B4-BE49-F238E27FC236}">
                <a16:creationId xmlns:a16="http://schemas.microsoft.com/office/drawing/2014/main" id="{46147AA6-7D29-A94C-EA15-3D992E5D4B63}"/>
              </a:ext>
            </a:extLst>
          </p:cNvPr>
          <p:cNvSpPr/>
          <p:nvPr/>
        </p:nvSpPr>
        <p:spPr>
          <a:xfrm rot="5400000">
            <a:off x="8324625" y="3577022"/>
            <a:ext cx="295278" cy="14401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3AC3C878-4775-793F-AB16-7ACB671B8359}"/>
              </a:ext>
            </a:extLst>
          </p:cNvPr>
          <p:cNvSpPr/>
          <p:nvPr/>
        </p:nvSpPr>
        <p:spPr>
          <a:xfrm>
            <a:off x="7142982" y="3798679"/>
            <a:ext cx="762183" cy="1286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A05EA718-560B-E66B-40D2-B10BAA477951}"/>
              </a:ext>
            </a:extLst>
          </p:cNvPr>
          <p:cNvSpPr/>
          <p:nvPr/>
        </p:nvSpPr>
        <p:spPr>
          <a:xfrm rot="10800000">
            <a:off x="7124320" y="4599687"/>
            <a:ext cx="769215" cy="1286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274A77-C960-6652-294F-7FC3961A2164}"/>
              </a:ext>
            </a:extLst>
          </p:cNvPr>
          <p:cNvSpPr txBox="1"/>
          <p:nvPr/>
        </p:nvSpPr>
        <p:spPr>
          <a:xfrm>
            <a:off x="6781613" y="4779797"/>
            <a:ext cx="1606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/>
                </a:solidFill>
              </a:rPr>
              <a:t>Convert query to chunks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87E3E2-D653-A90C-B33F-56AFB625729E}"/>
              </a:ext>
            </a:extLst>
          </p:cNvPr>
          <p:cNvSpPr txBox="1"/>
          <p:nvPr/>
        </p:nvSpPr>
        <p:spPr>
          <a:xfrm>
            <a:off x="6970874" y="3380709"/>
            <a:ext cx="13322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/>
                </a:solidFill>
              </a:rPr>
              <a:t>Get the context from Vector Store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7FCCE3-1C1A-29FB-F6D2-75A6C6666571}"/>
              </a:ext>
            </a:extLst>
          </p:cNvPr>
          <p:cNvSpPr txBox="1"/>
          <p:nvPr/>
        </p:nvSpPr>
        <p:spPr>
          <a:xfrm>
            <a:off x="8424861" y="3520880"/>
            <a:ext cx="11521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rgbClr val="FFFF00"/>
                </a:solidFill>
              </a:rPr>
              <a:t>Prompt + Context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D108E-1868-F189-D8B2-DE5D9AD76F88}"/>
              </a:ext>
            </a:extLst>
          </p:cNvPr>
          <p:cNvSpPr/>
          <p:nvPr/>
        </p:nvSpPr>
        <p:spPr>
          <a:xfrm>
            <a:off x="219841" y="3231278"/>
            <a:ext cx="967673" cy="9978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Policies</a:t>
            </a:r>
            <a:endParaRPr lang="en-IN" sz="12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A2F0ED5-C9B4-D2D3-B0D1-C6B0D37CC2C3}"/>
              </a:ext>
            </a:extLst>
          </p:cNvPr>
          <p:cNvSpPr/>
          <p:nvPr/>
        </p:nvSpPr>
        <p:spPr>
          <a:xfrm rot="2169349">
            <a:off x="1137394" y="3911316"/>
            <a:ext cx="647044" cy="1008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6CDD48-45B9-9F1A-39E3-E996E083DA48}"/>
              </a:ext>
            </a:extLst>
          </p:cNvPr>
          <p:cNvSpPr txBox="1"/>
          <p:nvPr/>
        </p:nvSpPr>
        <p:spPr>
          <a:xfrm>
            <a:off x="7039518" y="1869927"/>
            <a:ext cx="1332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RAG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C2F366-3717-329C-5AE3-0E24BD9AA7E8}"/>
              </a:ext>
            </a:extLst>
          </p:cNvPr>
          <p:cNvSpPr/>
          <p:nvPr/>
        </p:nvSpPr>
        <p:spPr>
          <a:xfrm>
            <a:off x="219842" y="4411661"/>
            <a:ext cx="1020632" cy="9978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Policies</a:t>
            </a:r>
            <a:endParaRPr lang="en-IN" sz="1200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30D8C94-ABDE-7291-7E60-3447F29391B0}"/>
              </a:ext>
            </a:extLst>
          </p:cNvPr>
          <p:cNvSpPr/>
          <p:nvPr/>
        </p:nvSpPr>
        <p:spPr>
          <a:xfrm rot="19203380">
            <a:off x="1148944" y="4535120"/>
            <a:ext cx="647044" cy="1008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ECE02-C114-D27F-3D13-BC77A8BD0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2DE0840-FE1A-FF16-BD48-B0CDFF395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93" y="443555"/>
            <a:ext cx="10805160" cy="707886"/>
          </a:xfrm>
        </p:spPr>
        <p:txBody>
          <a:bodyPr>
            <a:normAutofit/>
          </a:bodyPr>
          <a:lstStyle/>
          <a:p>
            <a:r>
              <a:rPr lang="en-US" sz="2800" dirty="0"/>
              <a:t>SQL AGENT Model: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E72AAC-4041-FC6B-1A61-9BF9D7376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1276452" y="6019348"/>
            <a:ext cx="302281" cy="36576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4EF8F6DB-9246-4716-1D02-71296F046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-1212180" y="6320813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7E8A13DF-CDED-0673-D11E-B7A4076E8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4568923-8EC1-B12E-F7B3-9EE7998C32AF}"/>
              </a:ext>
            </a:extLst>
          </p:cNvPr>
          <p:cNvSpPr/>
          <p:nvPr/>
        </p:nvSpPr>
        <p:spPr>
          <a:xfrm rot="5400000">
            <a:off x="3929378" y="3116660"/>
            <a:ext cx="4137487" cy="418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</a:t>
            </a:r>
            <a:r>
              <a:rPr lang="en-IN" sz="1050" dirty="0" err="1"/>
              <a:t>openai</a:t>
            </a:r>
            <a:r>
              <a:rPr lang="en-IN" sz="1050" dirty="0"/>
              <a:t>/gpt-oss-20b</a:t>
            </a: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848C1A-5DCC-14CC-4956-C1AF08B7638B}"/>
              </a:ext>
            </a:extLst>
          </p:cNvPr>
          <p:cNvSpPr/>
          <p:nvPr/>
        </p:nvSpPr>
        <p:spPr>
          <a:xfrm>
            <a:off x="3726096" y="4659093"/>
            <a:ext cx="1028884" cy="7531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Query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C72281-5CB6-BC9C-E554-287B7251EF97}"/>
              </a:ext>
            </a:extLst>
          </p:cNvPr>
          <p:cNvSpPr/>
          <p:nvPr/>
        </p:nvSpPr>
        <p:spPr>
          <a:xfrm>
            <a:off x="6835346" y="2568157"/>
            <a:ext cx="1249178" cy="1035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response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1E98BC11-7237-B3AC-A064-C9BEECA25DBB}"/>
              </a:ext>
            </a:extLst>
          </p:cNvPr>
          <p:cNvSpPr/>
          <p:nvPr/>
        </p:nvSpPr>
        <p:spPr>
          <a:xfrm rot="16200000">
            <a:off x="3820419" y="4194170"/>
            <a:ext cx="746258" cy="160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B65904E4-B5AE-4A01-D0CA-D53CA177412C}"/>
              </a:ext>
            </a:extLst>
          </p:cNvPr>
          <p:cNvSpPr/>
          <p:nvPr/>
        </p:nvSpPr>
        <p:spPr>
          <a:xfrm>
            <a:off x="1847528" y="2173576"/>
            <a:ext cx="1170235" cy="172784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Pay roll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D3F155-C544-09B6-92A0-0A3932A43ABF}"/>
              </a:ext>
            </a:extLst>
          </p:cNvPr>
          <p:cNvSpPr txBox="1"/>
          <p:nvPr/>
        </p:nvSpPr>
        <p:spPr>
          <a:xfrm>
            <a:off x="2177366" y="2292208"/>
            <a:ext cx="71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DC7AA5-F6C4-4BCB-D93A-DD5BD3A5F25C}"/>
              </a:ext>
            </a:extLst>
          </p:cNvPr>
          <p:cNvSpPr/>
          <p:nvPr/>
        </p:nvSpPr>
        <p:spPr>
          <a:xfrm>
            <a:off x="3665932" y="2173576"/>
            <a:ext cx="1028883" cy="171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Agent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E3DF5DF-B191-A595-3CEC-385BB840B461}"/>
              </a:ext>
            </a:extLst>
          </p:cNvPr>
          <p:cNvSpPr/>
          <p:nvPr/>
        </p:nvSpPr>
        <p:spPr>
          <a:xfrm flipV="1">
            <a:off x="4716858" y="2463895"/>
            <a:ext cx="1072180" cy="1163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F4D8DD6-7BD0-329E-593B-B9C72C95611C}"/>
              </a:ext>
            </a:extLst>
          </p:cNvPr>
          <p:cNvSpPr/>
          <p:nvPr/>
        </p:nvSpPr>
        <p:spPr>
          <a:xfrm rot="10800000" flipV="1">
            <a:off x="4694815" y="2969444"/>
            <a:ext cx="1072180" cy="1163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B2B7EF-C167-BD8A-0CBE-0B91AA82901F}"/>
              </a:ext>
            </a:extLst>
          </p:cNvPr>
          <p:cNvSpPr txBox="1"/>
          <p:nvPr/>
        </p:nvSpPr>
        <p:spPr>
          <a:xfrm>
            <a:off x="4814800" y="3072326"/>
            <a:ext cx="1002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SQL Query</a:t>
            </a:r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F2E771B7-7413-E96B-232F-CA3B6CC641B5}"/>
              </a:ext>
            </a:extLst>
          </p:cNvPr>
          <p:cNvSpPr/>
          <p:nvPr/>
        </p:nvSpPr>
        <p:spPr>
          <a:xfrm rot="10800000">
            <a:off x="3017764" y="3168097"/>
            <a:ext cx="626801" cy="16413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5B15E1-44C0-706A-A7B1-700BE67BE9A2}"/>
              </a:ext>
            </a:extLst>
          </p:cNvPr>
          <p:cNvSpPr txBox="1"/>
          <p:nvPr/>
        </p:nvSpPr>
        <p:spPr>
          <a:xfrm>
            <a:off x="4647571" y="2034826"/>
            <a:ext cx="11887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Table Schema + Prompt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D674A22-EBB7-357A-EDA9-B3B5CE320F87}"/>
              </a:ext>
            </a:extLst>
          </p:cNvPr>
          <p:cNvSpPr/>
          <p:nvPr/>
        </p:nvSpPr>
        <p:spPr>
          <a:xfrm flipV="1">
            <a:off x="4720687" y="3509814"/>
            <a:ext cx="1072180" cy="1163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BDFE88-6E3F-CAC4-5B20-CDD903459B00}"/>
              </a:ext>
            </a:extLst>
          </p:cNvPr>
          <p:cNvSpPr txBox="1"/>
          <p:nvPr/>
        </p:nvSpPr>
        <p:spPr>
          <a:xfrm>
            <a:off x="4788313" y="3609789"/>
            <a:ext cx="1002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SQL Result + Prompt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8AE945E2-0156-46F8-EC77-C155EEC00BF3}"/>
              </a:ext>
            </a:extLst>
          </p:cNvPr>
          <p:cNvSpPr/>
          <p:nvPr/>
        </p:nvSpPr>
        <p:spPr>
          <a:xfrm flipV="1">
            <a:off x="6229248" y="3064518"/>
            <a:ext cx="606098" cy="1035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493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CA0D2-7862-4C67-6EE0-BDFF9E6E1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8DD993F-0576-7356-E320-DA55439D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93" y="443555"/>
            <a:ext cx="10805160" cy="707886"/>
          </a:xfrm>
        </p:spPr>
        <p:txBody>
          <a:bodyPr>
            <a:normAutofit/>
          </a:bodyPr>
          <a:lstStyle/>
          <a:p>
            <a:r>
              <a:rPr lang="en-US" sz="2800" dirty="0"/>
              <a:t>MCP (Modal Context Protocol) Client-Server Architecture: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815784-B126-0BEA-BCAC-39BA1AA15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1276452" y="6019348"/>
            <a:ext cx="302281" cy="36576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E21DBA4B-11E9-B094-EF3D-0E27D8D8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-1212180" y="6320813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AD090CF3-316F-B3AD-6C88-38DDE9A5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8F1575-73BC-EEF2-727A-C95E1EFE2942}"/>
              </a:ext>
            </a:extLst>
          </p:cNvPr>
          <p:cNvSpPr/>
          <p:nvPr/>
        </p:nvSpPr>
        <p:spPr>
          <a:xfrm>
            <a:off x="3001874" y="2080193"/>
            <a:ext cx="1028883" cy="487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Client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AFD4FC-2138-613B-AA4D-7887F3EC642B}"/>
              </a:ext>
            </a:extLst>
          </p:cNvPr>
          <p:cNvSpPr/>
          <p:nvPr/>
        </p:nvSpPr>
        <p:spPr>
          <a:xfrm>
            <a:off x="3001873" y="2861361"/>
            <a:ext cx="1028883" cy="487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Client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722A1-E914-4A4A-3E5D-E405BCE8BD9F}"/>
              </a:ext>
            </a:extLst>
          </p:cNvPr>
          <p:cNvSpPr/>
          <p:nvPr/>
        </p:nvSpPr>
        <p:spPr>
          <a:xfrm>
            <a:off x="3001875" y="3652283"/>
            <a:ext cx="1028883" cy="487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Client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280E4F-CCD1-4A97-07C2-6E6D0EA7F057}"/>
              </a:ext>
            </a:extLst>
          </p:cNvPr>
          <p:cNvSpPr/>
          <p:nvPr/>
        </p:nvSpPr>
        <p:spPr>
          <a:xfrm>
            <a:off x="5494372" y="1526309"/>
            <a:ext cx="1135028" cy="487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2B8CBA-AFF6-70BB-F7A1-CB51A57E2EE2}"/>
              </a:ext>
            </a:extLst>
          </p:cNvPr>
          <p:cNvSpPr/>
          <p:nvPr/>
        </p:nvSpPr>
        <p:spPr>
          <a:xfrm>
            <a:off x="5494373" y="2861361"/>
            <a:ext cx="1135027" cy="487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789A0C-4DA0-D331-6534-B71ABC0D3AEE}"/>
              </a:ext>
            </a:extLst>
          </p:cNvPr>
          <p:cNvSpPr/>
          <p:nvPr/>
        </p:nvSpPr>
        <p:spPr>
          <a:xfrm>
            <a:off x="5494373" y="4212157"/>
            <a:ext cx="1135027" cy="487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Sever 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8F519D-B4ED-E020-66B9-A27FBD18FCD4}"/>
              </a:ext>
            </a:extLst>
          </p:cNvPr>
          <p:cNvSpPr/>
          <p:nvPr/>
        </p:nvSpPr>
        <p:spPr>
          <a:xfrm>
            <a:off x="7762098" y="1526309"/>
            <a:ext cx="1428027" cy="4879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Application-1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F7680F-53F6-ACD5-F8B0-8C894D044A29}"/>
              </a:ext>
            </a:extLst>
          </p:cNvPr>
          <p:cNvSpPr/>
          <p:nvPr/>
        </p:nvSpPr>
        <p:spPr>
          <a:xfrm>
            <a:off x="7762099" y="2833874"/>
            <a:ext cx="1428026" cy="4879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Application-2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BDB1F7-FAF9-0A06-069C-1C1968015B47}"/>
              </a:ext>
            </a:extLst>
          </p:cNvPr>
          <p:cNvSpPr/>
          <p:nvPr/>
        </p:nvSpPr>
        <p:spPr>
          <a:xfrm>
            <a:off x="7762099" y="4176104"/>
            <a:ext cx="1428026" cy="48796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Application-1 &amp; 2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</a:p>
        </p:txBody>
      </p:sp>
      <p:pic>
        <p:nvPicPr>
          <p:cNvPr id="1026" name="Picture 2" descr="Artificial intelligence Generic color lineal-color icon ...">
            <a:extLst>
              <a:ext uri="{FF2B5EF4-FFF2-40B4-BE49-F238E27FC236}">
                <a16:creationId xmlns:a16="http://schemas.microsoft.com/office/drawing/2014/main" id="{797CD499-9A88-AA58-9A8B-F0E37A7B4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023" y="2705364"/>
            <a:ext cx="779632" cy="70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B422F4D-009E-A457-2874-971100F904F7}"/>
              </a:ext>
            </a:extLst>
          </p:cNvPr>
          <p:cNvCxnSpPr>
            <a:endCxn id="4" idx="1"/>
          </p:cNvCxnSpPr>
          <p:nvPr/>
        </p:nvCxnSpPr>
        <p:spPr>
          <a:xfrm flipV="1">
            <a:off x="2221992" y="2324175"/>
            <a:ext cx="779882" cy="476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8ED0F46-6D8F-027D-1D1F-6A06033A0872}"/>
              </a:ext>
            </a:extLst>
          </p:cNvPr>
          <p:cNvCxnSpPr>
            <a:cxnSpLocks/>
          </p:cNvCxnSpPr>
          <p:nvPr/>
        </p:nvCxnSpPr>
        <p:spPr>
          <a:xfrm>
            <a:off x="2249771" y="3105342"/>
            <a:ext cx="7041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285C4CB-D995-733A-39A5-AA677110F9D9}"/>
              </a:ext>
            </a:extLst>
          </p:cNvPr>
          <p:cNvCxnSpPr>
            <a:cxnSpLocks/>
          </p:cNvCxnSpPr>
          <p:nvPr/>
        </p:nvCxnSpPr>
        <p:spPr>
          <a:xfrm>
            <a:off x="2181655" y="3349325"/>
            <a:ext cx="779882" cy="469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Arrow: Left-Right 52">
            <a:extLst>
              <a:ext uri="{FF2B5EF4-FFF2-40B4-BE49-F238E27FC236}">
                <a16:creationId xmlns:a16="http://schemas.microsoft.com/office/drawing/2014/main" id="{B8D90C70-4438-0B09-9E43-BFF42E901EFC}"/>
              </a:ext>
            </a:extLst>
          </p:cNvPr>
          <p:cNvSpPr/>
          <p:nvPr/>
        </p:nvSpPr>
        <p:spPr>
          <a:xfrm rot="20860419">
            <a:off x="4025392" y="1965438"/>
            <a:ext cx="1465550" cy="10800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Arrow: Left-Right 53">
            <a:extLst>
              <a:ext uri="{FF2B5EF4-FFF2-40B4-BE49-F238E27FC236}">
                <a16:creationId xmlns:a16="http://schemas.microsoft.com/office/drawing/2014/main" id="{E182F9D2-C2BA-B7FC-E8C5-D7E8D3A5E082}"/>
              </a:ext>
            </a:extLst>
          </p:cNvPr>
          <p:cNvSpPr/>
          <p:nvPr/>
        </p:nvSpPr>
        <p:spPr>
          <a:xfrm rot="754602">
            <a:off x="4022998" y="4092485"/>
            <a:ext cx="1465550" cy="10800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Arrow: Left-Right 54">
            <a:extLst>
              <a:ext uri="{FF2B5EF4-FFF2-40B4-BE49-F238E27FC236}">
                <a16:creationId xmlns:a16="http://schemas.microsoft.com/office/drawing/2014/main" id="{08C5B6AC-572B-03FB-ECED-A9D65250A6E2}"/>
              </a:ext>
            </a:extLst>
          </p:cNvPr>
          <p:cNvSpPr/>
          <p:nvPr/>
        </p:nvSpPr>
        <p:spPr>
          <a:xfrm>
            <a:off x="4028822" y="3002216"/>
            <a:ext cx="1465550" cy="10800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Arrow: Left-Right 56">
            <a:extLst>
              <a:ext uri="{FF2B5EF4-FFF2-40B4-BE49-F238E27FC236}">
                <a16:creationId xmlns:a16="http://schemas.microsoft.com/office/drawing/2014/main" id="{E90A4E20-4D8F-6452-CEC7-ADF2D869E3EF}"/>
              </a:ext>
            </a:extLst>
          </p:cNvPr>
          <p:cNvSpPr/>
          <p:nvPr/>
        </p:nvSpPr>
        <p:spPr>
          <a:xfrm>
            <a:off x="6628235" y="1751741"/>
            <a:ext cx="1135028" cy="8956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Arrow: Left-Right 57">
            <a:extLst>
              <a:ext uri="{FF2B5EF4-FFF2-40B4-BE49-F238E27FC236}">
                <a16:creationId xmlns:a16="http://schemas.microsoft.com/office/drawing/2014/main" id="{9A85E3E8-7001-9132-9FBF-326684CEC34B}"/>
              </a:ext>
            </a:extLst>
          </p:cNvPr>
          <p:cNvSpPr/>
          <p:nvPr/>
        </p:nvSpPr>
        <p:spPr>
          <a:xfrm>
            <a:off x="6627070" y="3065343"/>
            <a:ext cx="1135028" cy="8956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row: Left-Right 58">
            <a:extLst>
              <a:ext uri="{FF2B5EF4-FFF2-40B4-BE49-F238E27FC236}">
                <a16:creationId xmlns:a16="http://schemas.microsoft.com/office/drawing/2014/main" id="{9ABB3A35-8707-5746-F2A6-6645517ACACF}"/>
              </a:ext>
            </a:extLst>
          </p:cNvPr>
          <p:cNvSpPr/>
          <p:nvPr/>
        </p:nvSpPr>
        <p:spPr>
          <a:xfrm>
            <a:off x="6627070" y="4366570"/>
            <a:ext cx="1135028" cy="8956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960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5684B-E69B-5EA4-C21F-298365528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84BAA9F-39BA-35A0-C3DE-AE774A19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93" y="443555"/>
            <a:ext cx="10805160" cy="707886"/>
          </a:xfrm>
        </p:spPr>
        <p:txBody>
          <a:bodyPr>
            <a:normAutofit/>
          </a:bodyPr>
          <a:lstStyle/>
          <a:p>
            <a:r>
              <a:rPr lang="en-US" sz="2800" dirty="0"/>
              <a:t>HR Agent using MCP Modal: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E7A4C6-F57F-4492-5A8C-EE21A5F871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1276452" y="6019348"/>
            <a:ext cx="302281" cy="36576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43DE1426-3A9E-84FE-B311-B3B327411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-1212180" y="6320813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E77C752-8396-F3B5-60C2-D43D88BD5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D1E131-4D57-AC3C-B108-FA1EFA3C50AC}"/>
              </a:ext>
            </a:extLst>
          </p:cNvPr>
          <p:cNvSpPr/>
          <p:nvPr/>
        </p:nvSpPr>
        <p:spPr>
          <a:xfrm>
            <a:off x="2890963" y="2018572"/>
            <a:ext cx="1028883" cy="487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Specific MCP Client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8524E-D903-6D7D-0FEE-C211413F5DEB}"/>
              </a:ext>
            </a:extLst>
          </p:cNvPr>
          <p:cNvSpPr/>
          <p:nvPr/>
        </p:nvSpPr>
        <p:spPr>
          <a:xfrm>
            <a:off x="2883028" y="3485738"/>
            <a:ext cx="1028883" cy="487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 Specific MCP Client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13AE0B-7857-F77C-C01F-6FDD4F5D7BB3}"/>
              </a:ext>
            </a:extLst>
          </p:cNvPr>
          <p:cNvSpPr/>
          <p:nvPr/>
        </p:nvSpPr>
        <p:spPr>
          <a:xfrm>
            <a:off x="5347873" y="1770382"/>
            <a:ext cx="1135028" cy="805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Specific API Integrated </a:t>
            </a:r>
          </a:p>
          <a:p>
            <a:pPr algn="ctr"/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3DD443-36F1-B6F1-219F-A3093BD72005}"/>
              </a:ext>
            </a:extLst>
          </p:cNvPr>
          <p:cNvSpPr/>
          <p:nvPr/>
        </p:nvSpPr>
        <p:spPr>
          <a:xfrm>
            <a:off x="5347873" y="3270308"/>
            <a:ext cx="1135027" cy="890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Specific API Integration</a:t>
            </a:r>
          </a:p>
          <a:p>
            <a:pPr algn="ctr"/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</a:t>
            </a: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1EE890A-544B-AAF0-F5A8-EBCE1F31E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5" t="31335" r="58712" b="45599"/>
          <a:stretch>
            <a:fillRect/>
          </a:stretch>
        </p:blipFill>
        <p:spPr>
          <a:xfrm rot="5400000">
            <a:off x="4581106" y="1450226"/>
            <a:ext cx="172383" cy="15819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466CC77-266C-D783-6112-9868145F37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5" t="31335" r="58712" b="45599"/>
          <a:stretch>
            <a:fillRect/>
          </a:stretch>
        </p:blipFill>
        <p:spPr>
          <a:xfrm rot="5400000">
            <a:off x="4599963" y="2919225"/>
            <a:ext cx="136961" cy="157961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D4D8AFA-0BC4-99C1-1117-6E584A1DCE6D}"/>
              </a:ext>
            </a:extLst>
          </p:cNvPr>
          <p:cNvSpPr/>
          <p:nvPr/>
        </p:nvSpPr>
        <p:spPr>
          <a:xfrm>
            <a:off x="7615599" y="1461312"/>
            <a:ext cx="1428027" cy="13873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Leave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Leave Balance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Employee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553A61-C577-D885-D665-CF8AA5BB73A1}"/>
              </a:ext>
            </a:extLst>
          </p:cNvPr>
          <p:cNvSpPr/>
          <p:nvPr/>
        </p:nvSpPr>
        <p:spPr>
          <a:xfrm>
            <a:off x="7615600" y="2946880"/>
            <a:ext cx="1428026" cy="13873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 on Leave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Leaves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Pending Leaves</a:t>
            </a:r>
          </a:p>
        </p:txBody>
      </p:sp>
      <p:pic>
        <p:nvPicPr>
          <p:cNvPr id="1026" name="Picture 2" descr="Artificial intelligence Generic color lineal-color icon ...">
            <a:extLst>
              <a:ext uri="{FF2B5EF4-FFF2-40B4-BE49-F238E27FC236}">
                <a16:creationId xmlns:a16="http://schemas.microsoft.com/office/drawing/2014/main" id="{F897A787-ACF9-7076-2CA1-C02197D83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023" y="2705364"/>
            <a:ext cx="779632" cy="70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17A49D3-5A9B-CAB1-B455-CDBE331C174E}"/>
              </a:ext>
            </a:extLst>
          </p:cNvPr>
          <p:cNvCxnSpPr>
            <a:cxnSpLocks/>
            <a:stCxn id="7" idx="3"/>
            <a:endCxn id="31" idx="1"/>
          </p:cNvCxnSpPr>
          <p:nvPr/>
        </p:nvCxnSpPr>
        <p:spPr>
          <a:xfrm flipV="1">
            <a:off x="6482901" y="2154990"/>
            <a:ext cx="1132698" cy="18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5346443-7EF6-9C0A-FAFD-5972FC8E4DE7}"/>
              </a:ext>
            </a:extLst>
          </p:cNvPr>
          <p:cNvCxnSpPr>
            <a:cxnSpLocks/>
          </p:cNvCxnSpPr>
          <p:nvPr/>
        </p:nvCxnSpPr>
        <p:spPr>
          <a:xfrm>
            <a:off x="6482900" y="3665803"/>
            <a:ext cx="11326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9D99538-62CE-5901-984E-000F740336C0}"/>
              </a:ext>
            </a:extLst>
          </p:cNvPr>
          <p:cNvCxnSpPr>
            <a:cxnSpLocks/>
          </p:cNvCxnSpPr>
          <p:nvPr/>
        </p:nvCxnSpPr>
        <p:spPr>
          <a:xfrm flipV="1">
            <a:off x="2071812" y="2290687"/>
            <a:ext cx="779882" cy="476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FFCA82C-FEA4-0459-8007-37B1A9C266F8}"/>
              </a:ext>
            </a:extLst>
          </p:cNvPr>
          <p:cNvCxnSpPr>
            <a:cxnSpLocks/>
          </p:cNvCxnSpPr>
          <p:nvPr/>
        </p:nvCxnSpPr>
        <p:spPr>
          <a:xfrm>
            <a:off x="2101884" y="3223325"/>
            <a:ext cx="752103" cy="524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11490523-DF51-DD46-B957-F56CCB62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5" t="31335" r="58712" b="45599"/>
          <a:stretch>
            <a:fillRect/>
          </a:stretch>
        </p:blipFill>
        <p:spPr>
          <a:xfrm rot="16200000">
            <a:off x="4541837" y="1611876"/>
            <a:ext cx="172383" cy="158191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AA116FE-1469-0EE8-FAC7-AB47CF0E7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5" t="31335" r="58712" b="45599"/>
          <a:stretch>
            <a:fillRect/>
          </a:stretch>
        </p:blipFill>
        <p:spPr>
          <a:xfrm rot="16200000">
            <a:off x="4541836" y="3043387"/>
            <a:ext cx="172383" cy="1581911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7D0D196-5D51-64D1-2163-B778B7ADCB49}"/>
              </a:ext>
            </a:extLst>
          </p:cNvPr>
          <p:cNvCxnSpPr>
            <a:cxnSpLocks/>
          </p:cNvCxnSpPr>
          <p:nvPr/>
        </p:nvCxnSpPr>
        <p:spPr>
          <a:xfrm flipH="1">
            <a:off x="6482900" y="3807860"/>
            <a:ext cx="11306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15174B7-BA70-B9ED-C83E-12A5499B646D}"/>
              </a:ext>
            </a:extLst>
          </p:cNvPr>
          <p:cNvCxnSpPr>
            <a:cxnSpLocks/>
          </p:cNvCxnSpPr>
          <p:nvPr/>
        </p:nvCxnSpPr>
        <p:spPr>
          <a:xfrm flipH="1">
            <a:off x="6482900" y="2290687"/>
            <a:ext cx="11306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728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62898-C37E-6D17-59E1-9339C659B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D1FEB8C-55A7-AAA6-A9EB-D57EDDD8278B}"/>
              </a:ext>
            </a:extLst>
          </p:cNvPr>
          <p:cNvSpPr/>
          <p:nvPr/>
        </p:nvSpPr>
        <p:spPr>
          <a:xfrm>
            <a:off x="4781911" y="889125"/>
            <a:ext cx="598241" cy="40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LLM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C0BE5F5-C9F6-F492-ED7E-90117BF4B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93" y="443555"/>
            <a:ext cx="10805160" cy="707886"/>
          </a:xfrm>
        </p:spPr>
        <p:txBody>
          <a:bodyPr>
            <a:normAutofit/>
          </a:bodyPr>
          <a:lstStyle/>
          <a:p>
            <a:r>
              <a:rPr lang="en-US" sz="2800" dirty="0"/>
              <a:t>MCP Agent Flow: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0F8D79-44A9-B6A0-932D-1DEAFE7A8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846684" y="6044898"/>
            <a:ext cx="302281" cy="36576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5DEAF56E-4B6C-D2DF-AEC1-640F61A12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-782412" y="6410658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E57A0342-DABB-706A-6C50-7A6087D60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DC69B11-F8F7-3258-AE08-E18494468BCA}"/>
              </a:ext>
            </a:extLst>
          </p:cNvPr>
          <p:cNvSpPr/>
          <p:nvPr/>
        </p:nvSpPr>
        <p:spPr>
          <a:xfrm>
            <a:off x="4440390" y="1785813"/>
            <a:ext cx="1379225" cy="445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MCP Client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66ED64-7BFF-F88A-210A-1E8397ACD68D}"/>
              </a:ext>
            </a:extLst>
          </p:cNvPr>
          <p:cNvSpPr/>
          <p:nvPr/>
        </p:nvSpPr>
        <p:spPr>
          <a:xfrm>
            <a:off x="4433083" y="2727317"/>
            <a:ext cx="1386532" cy="445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MCP Server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67118C-5BBC-A979-6887-FF52D6561D11}"/>
              </a:ext>
            </a:extLst>
          </p:cNvPr>
          <p:cNvSpPr/>
          <p:nvPr/>
        </p:nvSpPr>
        <p:spPr>
          <a:xfrm>
            <a:off x="4440390" y="3684763"/>
            <a:ext cx="1386533" cy="445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Tool Calling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7561697-93E6-5FFD-C17B-0295F3B09688}"/>
              </a:ext>
            </a:extLst>
          </p:cNvPr>
          <p:cNvSpPr/>
          <p:nvPr/>
        </p:nvSpPr>
        <p:spPr>
          <a:xfrm>
            <a:off x="4433083" y="4660896"/>
            <a:ext cx="1393840" cy="445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Tool Execution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C812F50-DA43-8408-C4FB-A40112655302}"/>
              </a:ext>
            </a:extLst>
          </p:cNvPr>
          <p:cNvSpPr/>
          <p:nvPr/>
        </p:nvSpPr>
        <p:spPr>
          <a:xfrm>
            <a:off x="4433083" y="5583713"/>
            <a:ext cx="1386533" cy="445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Application</a:t>
            </a:r>
          </a:p>
        </p:txBody>
      </p:sp>
      <p:sp>
        <p:nvSpPr>
          <p:cNvPr id="46" name="Arrow: Left-Right 45">
            <a:extLst>
              <a:ext uri="{FF2B5EF4-FFF2-40B4-BE49-F238E27FC236}">
                <a16:creationId xmlns:a16="http://schemas.microsoft.com/office/drawing/2014/main" id="{91752DB4-3C34-9648-BFF5-BF78A4053F76}"/>
              </a:ext>
            </a:extLst>
          </p:cNvPr>
          <p:cNvSpPr/>
          <p:nvPr/>
        </p:nvSpPr>
        <p:spPr>
          <a:xfrm rot="5400000" flipV="1">
            <a:off x="4827810" y="1509270"/>
            <a:ext cx="460721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Arrow: Left-Right 46">
            <a:extLst>
              <a:ext uri="{FF2B5EF4-FFF2-40B4-BE49-F238E27FC236}">
                <a16:creationId xmlns:a16="http://schemas.microsoft.com/office/drawing/2014/main" id="{5686872C-2AFB-AE52-9BA9-7F10E6557AC9}"/>
              </a:ext>
            </a:extLst>
          </p:cNvPr>
          <p:cNvSpPr/>
          <p:nvPr/>
        </p:nvSpPr>
        <p:spPr>
          <a:xfrm rot="5400000" flipV="1">
            <a:off x="4808041" y="2453747"/>
            <a:ext cx="460721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row: Left-Right 47">
            <a:extLst>
              <a:ext uri="{FF2B5EF4-FFF2-40B4-BE49-F238E27FC236}">
                <a16:creationId xmlns:a16="http://schemas.microsoft.com/office/drawing/2014/main" id="{BF083463-3663-F8D7-A854-BBACDC82B67A}"/>
              </a:ext>
            </a:extLst>
          </p:cNvPr>
          <p:cNvSpPr/>
          <p:nvPr/>
        </p:nvSpPr>
        <p:spPr>
          <a:xfrm rot="5400000" flipV="1">
            <a:off x="4804950" y="3400568"/>
            <a:ext cx="460721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Arrow: Left-Right 48">
            <a:extLst>
              <a:ext uri="{FF2B5EF4-FFF2-40B4-BE49-F238E27FC236}">
                <a16:creationId xmlns:a16="http://schemas.microsoft.com/office/drawing/2014/main" id="{9E3FB341-F933-64F3-C19C-2E56EA4AEE5D}"/>
              </a:ext>
            </a:extLst>
          </p:cNvPr>
          <p:cNvSpPr/>
          <p:nvPr/>
        </p:nvSpPr>
        <p:spPr>
          <a:xfrm rot="5400000" flipV="1">
            <a:off x="4804949" y="4373047"/>
            <a:ext cx="460721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Arrow: Left-Right 49">
            <a:extLst>
              <a:ext uri="{FF2B5EF4-FFF2-40B4-BE49-F238E27FC236}">
                <a16:creationId xmlns:a16="http://schemas.microsoft.com/office/drawing/2014/main" id="{CF8311A2-29BF-FE5F-BAFD-C190E86240BD}"/>
              </a:ext>
            </a:extLst>
          </p:cNvPr>
          <p:cNvSpPr/>
          <p:nvPr/>
        </p:nvSpPr>
        <p:spPr>
          <a:xfrm rot="5400000" flipV="1">
            <a:off x="4782089" y="5314318"/>
            <a:ext cx="460721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7B61E198-540D-1A42-8F12-7BCFF02F8EBB}"/>
              </a:ext>
            </a:extLst>
          </p:cNvPr>
          <p:cNvSpPr/>
          <p:nvPr/>
        </p:nvSpPr>
        <p:spPr>
          <a:xfrm>
            <a:off x="3739494" y="1935621"/>
            <a:ext cx="693588" cy="146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98323834-3D68-377A-2877-EB106202C88F}"/>
              </a:ext>
            </a:extLst>
          </p:cNvPr>
          <p:cNvSpPr/>
          <p:nvPr/>
        </p:nvSpPr>
        <p:spPr>
          <a:xfrm>
            <a:off x="5826923" y="1935621"/>
            <a:ext cx="693588" cy="146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3C35BE-C9B4-75C0-75DE-337E1ADF7666}"/>
              </a:ext>
            </a:extLst>
          </p:cNvPr>
          <p:cNvSpPr txBox="1"/>
          <p:nvPr/>
        </p:nvSpPr>
        <p:spPr>
          <a:xfrm>
            <a:off x="5002134" y="5136129"/>
            <a:ext cx="2059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Http request to API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1531F4-6C2E-CC4C-DC86-40FD44EB002F}"/>
              </a:ext>
            </a:extLst>
          </p:cNvPr>
          <p:cNvSpPr txBox="1"/>
          <p:nvPr/>
        </p:nvSpPr>
        <p:spPr>
          <a:xfrm>
            <a:off x="5985860" y="3038432"/>
            <a:ext cx="4398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Tool selection will be happened based</a:t>
            </a:r>
          </a:p>
          <a:p>
            <a:r>
              <a:rPr lang="en-IN" dirty="0"/>
              <a:t> on the description we provided for the tool</a:t>
            </a:r>
          </a:p>
        </p:txBody>
      </p:sp>
      <p:sp>
        <p:nvSpPr>
          <p:cNvPr id="57" name="Right Brace 56">
            <a:extLst>
              <a:ext uri="{FF2B5EF4-FFF2-40B4-BE49-F238E27FC236}">
                <a16:creationId xmlns:a16="http://schemas.microsoft.com/office/drawing/2014/main" id="{1D315C8B-9391-D96A-34C7-CC9039D21A6A}"/>
              </a:ext>
            </a:extLst>
          </p:cNvPr>
          <p:cNvSpPr/>
          <p:nvPr/>
        </p:nvSpPr>
        <p:spPr>
          <a:xfrm>
            <a:off x="5875720" y="2950277"/>
            <a:ext cx="220280" cy="93592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6203BB18-D1DA-AD4A-07D8-BBBA18D55F25}"/>
              </a:ext>
            </a:extLst>
          </p:cNvPr>
          <p:cNvSpPr txBox="1"/>
          <p:nvPr/>
        </p:nvSpPr>
        <p:spPr>
          <a:xfrm>
            <a:off x="5023905" y="2288715"/>
            <a:ext cx="1643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JSON-RPC call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84C09DE4-059A-0E45-7804-4A5D69B18248}"/>
              </a:ext>
            </a:extLst>
          </p:cNvPr>
          <p:cNvSpPr txBox="1"/>
          <p:nvPr/>
        </p:nvSpPr>
        <p:spPr>
          <a:xfrm>
            <a:off x="1405496" y="3227020"/>
            <a:ext cx="3597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Lang-chain tools schema handling</a:t>
            </a:r>
          </a:p>
        </p:txBody>
      </p:sp>
    </p:spTree>
    <p:extLst>
      <p:ext uri="{BB962C8B-B14F-4D97-AF65-F5344CB8AC3E}">
        <p14:creationId xmlns:p14="http://schemas.microsoft.com/office/powerpoint/2010/main" val="2048372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AEC00-9061-F422-D4D4-B7894CEE6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815974"/>
            <a:ext cx="9250680" cy="543307"/>
          </a:xfrm>
        </p:spPr>
        <p:txBody>
          <a:bodyPr/>
          <a:lstStyle/>
          <a:p>
            <a:r>
              <a:rPr lang="en-IN" sz="2800"/>
              <a:t>Data Requirement : </a:t>
            </a:r>
            <a:endParaRPr lang="en-IN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C29E4-3D39-1CD9-D443-928C08D60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281"/>
            <a:ext cx="10515600" cy="4351338"/>
          </a:xfrm>
        </p:spPr>
        <p:txBody>
          <a:bodyPr>
            <a:normAutofit/>
          </a:bodyPr>
          <a:lstStyle/>
          <a:p>
            <a:pPr lvl="1">
              <a:lnSpc>
                <a:spcPct val="11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 Documents: Leave policy, reimbursement rules, holiday list.</a:t>
            </a:r>
          </a:p>
          <a:p>
            <a:pPr lvl="1">
              <a:lnSpc>
                <a:spcPct val="11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Holiday Calendar: JSON/CSV format with official holidays.</a:t>
            </a:r>
          </a:p>
          <a:p>
            <a:pPr lvl="1">
              <a:lnSpc>
                <a:spcPct val="11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Data (anonymized for testing):</a:t>
            </a:r>
          </a:p>
          <a:p>
            <a:pPr lvl="1">
              <a:lnSpc>
                <a:spcPct val="11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Leave balance records</a:t>
            </a:r>
          </a:p>
          <a:p>
            <a:pPr lvl="1">
              <a:lnSpc>
                <a:spcPct val="110000"/>
              </a:lnSpc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Reimbursement requests</a:t>
            </a:r>
          </a:p>
        </p:txBody>
      </p:sp>
      <p:pic>
        <p:nvPicPr>
          <p:cNvPr id="3" name="Picture Placeholder 5">
            <a:extLst>
              <a:ext uri="{FF2B5EF4-FFF2-40B4-BE49-F238E27FC236}">
                <a16:creationId xmlns:a16="http://schemas.microsoft.com/office/drawing/2014/main" id="{E3C2E91E-69EE-10CA-6210-C683DEB0A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39F286-F96D-838E-E65E-C34165F74B86}"/>
              </a:ext>
            </a:extLst>
          </p:cNvPr>
          <p:cNvSpPr txBox="1"/>
          <p:nvPr/>
        </p:nvSpPr>
        <p:spPr>
          <a:xfrm>
            <a:off x="1300734" y="4233291"/>
            <a:ext cx="65722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NLP / LLMs: Grok-</a:t>
            </a:r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openai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/gpt-oss-20b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 GPT-4o(open-source).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Framework: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LangChain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 Search: 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entence-transformers/all-MiniLM-l6-v2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7DABD6-DB92-5B1D-02E3-4B30CEB2C0A3}"/>
              </a:ext>
            </a:extLst>
          </p:cNvPr>
          <p:cNvSpPr txBox="1">
            <a:spLocks/>
          </p:cNvSpPr>
          <p:nvPr/>
        </p:nvSpPr>
        <p:spPr>
          <a:xfrm>
            <a:off x="950976" y="3429000"/>
            <a:ext cx="9250680" cy="543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dirty="0"/>
              <a:t>Tools using currently : </a:t>
            </a:r>
          </a:p>
        </p:txBody>
      </p:sp>
    </p:spTree>
    <p:extLst>
      <p:ext uri="{BB962C8B-B14F-4D97-AF65-F5344CB8AC3E}">
        <p14:creationId xmlns:p14="http://schemas.microsoft.com/office/powerpoint/2010/main" val="1808153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B8078-29C2-D001-EEE7-7DA532927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01D1-B381-33C0-9D42-DF98AE73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Agent Evaluation</a:t>
            </a:r>
            <a:r>
              <a:rPr lang="en-US" sz="2800" dirty="0"/>
              <a:t>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AA52D-2DC2-88D5-8F4B-AFEDE949F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Evaluation is doing based on the pre-defined questions and scoring for faithful answers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pre-defined questions and answers are loaded from the JSON file and comparing the results of questions with actual answers. Based on the matching criteria taking 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6845C-4393-12C7-D735-DD61E299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19-04-2026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00183-9D4B-C417-C71E-30FC6B09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EA62260-C0EF-3C54-668A-38DD7141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</p:spPr>
      </p:pic>
      <p:pic>
        <p:nvPicPr>
          <p:cNvPr id="8" name="Picture 7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F6D69F30-5747-3040-1251-0412C45E5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1" y="2757488"/>
            <a:ext cx="10614555" cy="262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50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C6A7-0762-83D0-D4FF-992FA999A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BD410-DA56-DC9C-F934-9112A2B5B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Agent Responses</a:t>
            </a:r>
            <a:r>
              <a:rPr lang="en-US" sz="2800" dirty="0"/>
              <a:t>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AA887-BE41-9A92-6114-91337B03D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94E80-20DB-3D98-A011-82242002A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19-04-2026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1EE440-F601-46AA-8D65-80DDF6B67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FB97BDB-4CE3-826A-A6B7-A9532A88A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A24E9F-4ECE-986A-4EC0-80391B7A6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44613"/>
            <a:ext cx="9704832" cy="434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87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65B1C-B660-B1A7-1D9E-35F53CEEA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F3D1-9255-C4CD-838E-2A47F81C0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Agent Responses</a:t>
            </a:r>
            <a:r>
              <a:rPr lang="en-US" sz="2800" dirty="0"/>
              <a:t>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4F358-BA31-CC88-4D39-6F841170D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2CBF0-2A59-601F-6323-7ABE9D97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19-04-2026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CBF54-8CF9-ACF1-3EC1-D02C0188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DA508A5-14AE-F258-0FF8-CD6CADA73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8B101C-8419-D093-443C-335E706A0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4" y="1344613"/>
            <a:ext cx="10848975" cy="480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67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C8D59-D99B-0CBA-BBDE-D04F9D970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AB65-AB14-A5DB-C51D-18779965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Expected Outcomes</a:t>
            </a:r>
            <a:r>
              <a:rPr lang="en-US" sz="2800" dirty="0"/>
              <a:t>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8DC66-DC33-6E37-216E-995D5F15D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to other domains (Finance, IT Helpdesk).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Employees can query HR assistant anytime.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responses reduce HR workload by 30–40%.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Personalized responses based on memory of past queries.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4886D-8406-48F0-5D7B-EE1CFE416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19-04-2026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69030-139B-05C1-DE2A-B0F55D2C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402A48A-FC30-D743-241A-EF0AFBA05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25937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10354-CCD5-981C-5EF0-2EC3059E6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Progress: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14F161-ED99-CE51-0F8A-F1582D7733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51266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B4459F26-E990-671F-CBF2-9CFE5ED8673D}"/>
              </a:ext>
            </a:extLst>
          </p:cNvPr>
          <p:cNvSpPr/>
          <p:nvPr/>
        </p:nvSpPr>
        <p:spPr>
          <a:xfrm>
            <a:off x="1316770" y="1986616"/>
            <a:ext cx="184038" cy="21219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6C0F3-ED5C-5B4F-2B5A-0B0A1A9EAFB9}"/>
              </a:ext>
            </a:extLst>
          </p:cNvPr>
          <p:cNvSpPr txBox="1"/>
          <p:nvPr/>
        </p:nvSpPr>
        <p:spPr>
          <a:xfrm>
            <a:off x="1467775" y="1967838"/>
            <a:ext cx="3939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Employee data creation in DB and Policy data conversion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221E84-5B8B-EAF6-9C40-71001827814A}"/>
              </a:ext>
            </a:extLst>
          </p:cNvPr>
          <p:cNvSpPr txBox="1"/>
          <p:nvPr/>
        </p:nvSpPr>
        <p:spPr>
          <a:xfrm>
            <a:off x="1454492" y="2281419"/>
            <a:ext cx="54538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Implementing task specific agents like Payroll Agent, Policy Agent, Holiday Agent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51843D-C1CE-1A4F-E4F9-04421379A2D3}"/>
              </a:ext>
            </a:extLst>
          </p:cNvPr>
          <p:cNvSpPr txBox="1"/>
          <p:nvPr/>
        </p:nvSpPr>
        <p:spPr>
          <a:xfrm>
            <a:off x="1472784" y="2620641"/>
            <a:ext cx="3425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Orchestration of the Agent and Model Evaluation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ECBD76-BFEA-4661-8508-F576C4129D5C}"/>
              </a:ext>
            </a:extLst>
          </p:cNvPr>
          <p:cNvSpPr txBox="1"/>
          <p:nvPr/>
        </p:nvSpPr>
        <p:spPr>
          <a:xfrm>
            <a:off x="1460799" y="2971305"/>
            <a:ext cx="2478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Creation of Chat bot user interface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DAA0A4-15C8-6084-494B-439F6E00547B}"/>
              </a:ext>
            </a:extLst>
          </p:cNvPr>
          <p:cNvSpPr txBox="1"/>
          <p:nvPr/>
        </p:nvSpPr>
        <p:spPr>
          <a:xfrm>
            <a:off x="1467775" y="3674750"/>
            <a:ext cx="5601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Creation on MCP Client-Server modal to perform agentic actions on the LMS portal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D8D3B04-307F-4E8B-B0E8-2E4F3C0BC4E7}"/>
              </a:ext>
            </a:extLst>
          </p:cNvPr>
          <p:cNvSpPr/>
          <p:nvPr/>
        </p:nvSpPr>
        <p:spPr>
          <a:xfrm>
            <a:off x="1323619" y="2305394"/>
            <a:ext cx="184038" cy="21219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DEA2691-2CA1-9907-1FD3-D597F965C3CB}"/>
              </a:ext>
            </a:extLst>
          </p:cNvPr>
          <p:cNvSpPr/>
          <p:nvPr/>
        </p:nvSpPr>
        <p:spPr>
          <a:xfrm>
            <a:off x="1333523" y="2624172"/>
            <a:ext cx="184038" cy="21219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45B4FE2-C3BA-0EC6-02F8-F3480DC7631F}"/>
              </a:ext>
            </a:extLst>
          </p:cNvPr>
          <p:cNvSpPr/>
          <p:nvPr/>
        </p:nvSpPr>
        <p:spPr>
          <a:xfrm>
            <a:off x="1333523" y="2974295"/>
            <a:ext cx="184038" cy="21219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F8DBCA7-224C-3848-0824-2A72E5A21E97}"/>
              </a:ext>
            </a:extLst>
          </p:cNvPr>
          <p:cNvSpPr/>
          <p:nvPr/>
        </p:nvSpPr>
        <p:spPr>
          <a:xfrm>
            <a:off x="1333523" y="3339395"/>
            <a:ext cx="184038" cy="21219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B53876-6A5D-9FA5-666A-1669B4342303}"/>
              </a:ext>
            </a:extLst>
          </p:cNvPr>
          <p:cNvSpPr txBox="1"/>
          <p:nvPr/>
        </p:nvSpPr>
        <p:spPr>
          <a:xfrm>
            <a:off x="1488761" y="4444698"/>
            <a:ext cx="33411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Creation of the Manager specific API MCP client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88F7C8-6FC7-684C-A127-C4855119F02C}"/>
              </a:ext>
            </a:extLst>
          </p:cNvPr>
          <p:cNvSpPr txBox="1"/>
          <p:nvPr/>
        </p:nvSpPr>
        <p:spPr>
          <a:xfrm>
            <a:off x="1467775" y="4894548"/>
            <a:ext cx="53916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Creation of user level authentication and restrict information based person role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8618661-5082-F41E-7E8F-CA7859F1BBD7}"/>
              </a:ext>
            </a:extLst>
          </p:cNvPr>
          <p:cNvSpPr/>
          <p:nvPr/>
        </p:nvSpPr>
        <p:spPr>
          <a:xfrm>
            <a:off x="1326527" y="4908754"/>
            <a:ext cx="184038" cy="21219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24C8EEE-F57D-3538-ED8F-2EEA1D2D9A72}"/>
              </a:ext>
            </a:extLst>
          </p:cNvPr>
          <p:cNvSpPr/>
          <p:nvPr/>
        </p:nvSpPr>
        <p:spPr>
          <a:xfrm>
            <a:off x="1323619" y="4076143"/>
            <a:ext cx="184038" cy="21219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F49F6F-1B53-A3E2-C2E0-2AAAF27DB9F3}"/>
              </a:ext>
            </a:extLst>
          </p:cNvPr>
          <p:cNvSpPr/>
          <p:nvPr/>
        </p:nvSpPr>
        <p:spPr>
          <a:xfrm>
            <a:off x="1323619" y="4467201"/>
            <a:ext cx="184038" cy="21219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128DE99-A903-1D40-CC4A-29E7FC3BF140}"/>
              </a:ext>
            </a:extLst>
          </p:cNvPr>
          <p:cNvSpPr/>
          <p:nvPr/>
        </p:nvSpPr>
        <p:spPr>
          <a:xfrm>
            <a:off x="1323619" y="3711026"/>
            <a:ext cx="184038" cy="21219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7FD553-7964-DE99-3701-53AF633E177B}"/>
              </a:ext>
            </a:extLst>
          </p:cNvPr>
          <p:cNvSpPr txBox="1"/>
          <p:nvPr/>
        </p:nvSpPr>
        <p:spPr>
          <a:xfrm>
            <a:off x="1488761" y="4025824"/>
            <a:ext cx="53169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Improvisations in all child agent responses with respective of the user queries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C8FEDA-4735-FB35-3984-FE3436B58BCD}"/>
              </a:ext>
            </a:extLst>
          </p:cNvPr>
          <p:cNvSpPr txBox="1"/>
          <p:nvPr/>
        </p:nvSpPr>
        <p:spPr>
          <a:xfrm>
            <a:off x="1454492" y="3323676"/>
            <a:ext cx="3529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Creation of LMS portal using microservice concept</a:t>
            </a:r>
          </a:p>
        </p:txBody>
      </p:sp>
    </p:spTree>
    <p:extLst>
      <p:ext uri="{BB962C8B-B14F-4D97-AF65-F5344CB8AC3E}">
        <p14:creationId xmlns:p14="http://schemas.microsoft.com/office/powerpoint/2010/main" val="3768747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C781E-6AB7-A0E1-7CF6-6F2534104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F59C-51F4-8CB4-D067-1261AB4E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References</a:t>
            </a:r>
            <a:r>
              <a:rPr lang="en-US" sz="2800" dirty="0"/>
              <a:t>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6EFB5-E64D-409E-BC9A-06ECF0219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HR‐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MultiWOZ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Task Oriented Dialogue (TOD) Dataset for HR LLM Agent (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https://arxiv.org/html/2410.11239v1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Context Protocol (MCP) Tool Descriptions Are Smelly! Towards Improving AI Agent Efficiency with Augmented MCP Tool Descriptions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(https://arxiv.org/html/2602.14878v1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)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Integrating AI and Large Language Models for Automated Data Quality Enhancement in Data Integration Systems (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https://discovery.researcher.life/article/integrating-ai-and-large-language-models-for-automated-data-quality-enhancement-in-data-integration-systems/bf2746490e803ed3a6747d21c6b21f6c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09F4B-19BA-4DD2-BAE2-D9DEEBD8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19-04-2026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F702A-85B5-20C5-7A83-325B5221D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106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344B8-A1D8-CD59-8F23-27063C55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19-04-2026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C0E03-881C-0985-CD32-CC21B0D8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17</a:t>
            </a:fld>
            <a:endParaRPr lang="en-US" dirty="0"/>
          </a:p>
        </p:txBody>
      </p:sp>
      <p:pic>
        <p:nvPicPr>
          <p:cNvPr id="1026" name="Picture 2" descr="Free Stock Photo of Time For Questions Shows Support Frequently And  Assistance | Download Free Images and Free Illustrations">
            <a:extLst>
              <a:ext uri="{FF2B5EF4-FFF2-40B4-BE49-F238E27FC236}">
                <a16:creationId xmlns:a16="http://schemas.microsoft.com/office/drawing/2014/main" id="{926FC6D8-BE18-E41F-32A3-AA583A065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120" y="1813560"/>
            <a:ext cx="2560320" cy="256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3815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78E54-83EA-C4AB-65E3-6EA14E8A4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7EA8A-D44E-88C1-6478-4D815D418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19-04-2026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03E57-F71E-E58B-E6C4-3CEF2B0C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18</a:t>
            </a:fld>
            <a:endParaRPr lang="en-US" dirty="0"/>
          </a:p>
        </p:txBody>
      </p:sp>
      <p:pic>
        <p:nvPicPr>
          <p:cNvPr id="3076" name="Picture 4" descr="Thank You Vectors - Download Free High ...">
            <a:extLst>
              <a:ext uri="{FF2B5EF4-FFF2-40B4-BE49-F238E27FC236}">
                <a16:creationId xmlns:a16="http://schemas.microsoft.com/office/drawing/2014/main" id="{02772FD7-5DBE-44DD-2F32-5F5ADE54B1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682" y="1839311"/>
            <a:ext cx="3806140" cy="269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967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6365</TotalTime>
  <Words>810</Words>
  <Application>Microsoft Office PowerPoint</Application>
  <PresentationFormat>Widescreen</PresentationFormat>
  <Paragraphs>206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NotoSans-Regular</vt:lpstr>
      <vt:lpstr>Times New Roman</vt:lpstr>
      <vt:lpstr>Office Theme</vt:lpstr>
      <vt:lpstr>PowerPoint Presentation</vt:lpstr>
      <vt:lpstr>Introduction &amp; Problem Statement: </vt:lpstr>
      <vt:lpstr>Flow of the Agent:</vt:lpstr>
      <vt:lpstr>Multi Agent Architecture: (Phase-2)</vt:lpstr>
      <vt:lpstr>RAG Model:</vt:lpstr>
      <vt:lpstr>SQL AGENT Model:</vt:lpstr>
      <vt:lpstr>MCP (Modal Context Protocol) Client-Server Architecture:</vt:lpstr>
      <vt:lpstr>HR Agent using MCP Modal: </vt:lpstr>
      <vt:lpstr>MCP Agent Flow: </vt:lpstr>
      <vt:lpstr>Data Requirement : </vt:lpstr>
      <vt:lpstr>Agent Evaluation: </vt:lpstr>
      <vt:lpstr>Agent Responses: </vt:lpstr>
      <vt:lpstr>Agent Responses: </vt:lpstr>
      <vt:lpstr>Expected Outcomes: </vt:lpstr>
      <vt:lpstr>Progress: </vt:lpstr>
      <vt:lpstr>References: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yugandhar gupta nalam</dc:creator>
  <cp:lastModifiedBy>1666</cp:lastModifiedBy>
  <cp:revision>245</cp:revision>
  <dcterms:created xsi:type="dcterms:W3CDTF">2025-05-06T17:08:23Z</dcterms:created>
  <dcterms:modified xsi:type="dcterms:W3CDTF">2026-04-19T09:19:01Z</dcterms:modified>
</cp:coreProperties>
</file>